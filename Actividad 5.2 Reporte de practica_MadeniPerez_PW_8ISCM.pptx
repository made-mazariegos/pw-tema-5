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82" r:id="rId6"/>
    <p:sldId id="260" r:id="rId7"/>
    <p:sldId id="261" r:id="rId8"/>
    <p:sldId id="262" r:id="rId9"/>
    <p:sldId id="263" r:id="rId10"/>
    <p:sldId id="264" r:id="rId11"/>
    <p:sldId id="266" r:id="rId12"/>
    <p:sldId id="281"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3BA0E3-1820-4ABF-A2E8-56E66F2D1071}" type="datetimeFigureOut">
              <a:rPr lang="es-MX" smtClean="0"/>
              <a:t>14/06/2026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B7BBD-416E-45F7-9337-2716C2B513F8}" type="slidenum">
              <a:rPr lang="es-MX" smtClean="0"/>
              <a:t>‹Nº›</a:t>
            </a:fld>
            <a:endParaRPr lang="es-MX"/>
          </a:p>
        </p:txBody>
      </p:sp>
    </p:spTree>
    <p:extLst>
      <p:ext uri="{BB962C8B-B14F-4D97-AF65-F5344CB8AC3E}">
        <p14:creationId xmlns:p14="http://schemas.microsoft.com/office/powerpoint/2010/main" val="1860640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1BE98F-E45F-E2DF-0045-D96ADF17179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C0CCFC7-FA0A-B1DE-B649-0ADDED237D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0B4FF6E-EA4A-DBC6-1DF0-ACD10F75F4B7}"/>
              </a:ext>
            </a:extLst>
          </p:cNvPr>
          <p:cNvSpPr>
            <a:spLocks noGrp="1"/>
          </p:cNvSpPr>
          <p:nvPr>
            <p:ph type="dt" sz="half" idx="10"/>
          </p:nvPr>
        </p:nvSpPr>
        <p:spPr/>
        <p:txBody>
          <a:bodyPr/>
          <a:lstStyle/>
          <a:p>
            <a:fld id="{27090C76-B086-456A-AF3D-141A55C23934}" type="datetime1">
              <a:rPr lang="es-MX" smtClean="0"/>
              <a:t>14/06/2026</a:t>
            </a:fld>
            <a:endParaRPr lang="es-MX"/>
          </a:p>
        </p:txBody>
      </p:sp>
      <p:sp>
        <p:nvSpPr>
          <p:cNvPr id="5" name="Marcador de pie de página 4">
            <a:extLst>
              <a:ext uri="{FF2B5EF4-FFF2-40B4-BE49-F238E27FC236}">
                <a16:creationId xmlns:a16="http://schemas.microsoft.com/office/drawing/2014/main" id="{B36A0C58-F982-7AF1-1856-3448FF01E0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3526F89-7182-DFA8-F837-76ED0D06A0B7}"/>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2295386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8D3A1E-B57D-FA7B-8C7B-F559DCFFB44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7E70132-6BE6-AF86-A44C-28653D53949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D4188BA-80FE-8521-E5CF-4D53C03DEED4}"/>
              </a:ext>
            </a:extLst>
          </p:cNvPr>
          <p:cNvSpPr>
            <a:spLocks noGrp="1"/>
          </p:cNvSpPr>
          <p:nvPr>
            <p:ph type="dt" sz="half" idx="10"/>
          </p:nvPr>
        </p:nvSpPr>
        <p:spPr/>
        <p:txBody>
          <a:bodyPr/>
          <a:lstStyle/>
          <a:p>
            <a:fld id="{877F2D03-3675-43A4-975C-7AA670706368}" type="datetime1">
              <a:rPr lang="es-MX" smtClean="0"/>
              <a:t>14/06/2026</a:t>
            </a:fld>
            <a:endParaRPr lang="es-MX"/>
          </a:p>
        </p:txBody>
      </p:sp>
      <p:sp>
        <p:nvSpPr>
          <p:cNvPr id="5" name="Marcador de pie de página 4">
            <a:extLst>
              <a:ext uri="{FF2B5EF4-FFF2-40B4-BE49-F238E27FC236}">
                <a16:creationId xmlns:a16="http://schemas.microsoft.com/office/drawing/2014/main" id="{46B9E778-CC01-599A-67BF-3780759671F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8BB3C87-6803-7671-CA8B-13B6D7D90A00}"/>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2152588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B3E65A-0EFC-4139-24DA-8F2B619E713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53DB567-EE8E-4232-FD57-A0BCC51806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A8429A-9CE3-EB97-EA3E-85C03A5929F0}"/>
              </a:ext>
            </a:extLst>
          </p:cNvPr>
          <p:cNvSpPr>
            <a:spLocks noGrp="1"/>
          </p:cNvSpPr>
          <p:nvPr>
            <p:ph type="dt" sz="half" idx="10"/>
          </p:nvPr>
        </p:nvSpPr>
        <p:spPr/>
        <p:txBody>
          <a:bodyPr/>
          <a:lstStyle/>
          <a:p>
            <a:fld id="{20B945E2-8340-4177-A50A-2FAD2CD4DF62}" type="datetime1">
              <a:rPr lang="es-MX" smtClean="0"/>
              <a:t>14/06/2026</a:t>
            </a:fld>
            <a:endParaRPr lang="es-MX"/>
          </a:p>
        </p:txBody>
      </p:sp>
      <p:sp>
        <p:nvSpPr>
          <p:cNvPr id="5" name="Marcador de pie de página 4">
            <a:extLst>
              <a:ext uri="{FF2B5EF4-FFF2-40B4-BE49-F238E27FC236}">
                <a16:creationId xmlns:a16="http://schemas.microsoft.com/office/drawing/2014/main" id="{6F591B57-4EDA-ACDC-4E8E-505BB2F7154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D036FBA-3DD3-777C-1949-8ADEB2D780CD}"/>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502443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0D61A0-82AE-C931-C407-2C1E0CD24A8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A4123DE-AB81-6C3B-7937-BA389644385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67CCE8A-6780-DEFC-7CF7-E22DE2706B7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08840288-16E1-FFEE-EC76-DFB996120A5C}"/>
              </a:ext>
            </a:extLst>
          </p:cNvPr>
          <p:cNvSpPr>
            <a:spLocks noGrp="1"/>
          </p:cNvSpPr>
          <p:nvPr>
            <p:ph type="dt" sz="half" idx="10"/>
          </p:nvPr>
        </p:nvSpPr>
        <p:spPr/>
        <p:txBody>
          <a:bodyPr/>
          <a:lstStyle/>
          <a:p>
            <a:fld id="{5DF3020D-BA8A-4343-83AB-47D53E869C8F}" type="datetime1">
              <a:rPr lang="es-MX" smtClean="0"/>
              <a:t>14/06/2026</a:t>
            </a:fld>
            <a:endParaRPr lang="es-MX"/>
          </a:p>
        </p:txBody>
      </p:sp>
      <p:sp>
        <p:nvSpPr>
          <p:cNvPr id="6" name="Marcador de pie de página 5">
            <a:extLst>
              <a:ext uri="{FF2B5EF4-FFF2-40B4-BE49-F238E27FC236}">
                <a16:creationId xmlns:a16="http://schemas.microsoft.com/office/drawing/2014/main" id="{C14F31D7-7850-089F-C682-4D624E57C58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A2C385D-758C-EDC2-FBE9-539B281A4F13}"/>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207147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65164E-F0DD-7A1B-6D17-EF427473256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CA22628-1941-F171-7C81-83876E0517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9E68A83-052C-5FBC-3293-1B118356B2E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2501888-802F-BD19-FAD4-252A04CE22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EAFEDCA-7E02-96B5-0419-ACA27E851EE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4702A07-51CC-CB9B-C30C-C31C71EB29CC}"/>
              </a:ext>
            </a:extLst>
          </p:cNvPr>
          <p:cNvSpPr>
            <a:spLocks noGrp="1"/>
          </p:cNvSpPr>
          <p:nvPr>
            <p:ph type="dt" sz="half" idx="10"/>
          </p:nvPr>
        </p:nvSpPr>
        <p:spPr/>
        <p:txBody>
          <a:bodyPr/>
          <a:lstStyle/>
          <a:p>
            <a:fld id="{8C73CBBF-00F1-4259-8F24-E239AFECFE41}" type="datetime1">
              <a:rPr lang="es-MX" smtClean="0"/>
              <a:t>14/06/2026</a:t>
            </a:fld>
            <a:endParaRPr lang="es-MX"/>
          </a:p>
        </p:txBody>
      </p:sp>
      <p:sp>
        <p:nvSpPr>
          <p:cNvPr id="8" name="Marcador de pie de página 7">
            <a:extLst>
              <a:ext uri="{FF2B5EF4-FFF2-40B4-BE49-F238E27FC236}">
                <a16:creationId xmlns:a16="http://schemas.microsoft.com/office/drawing/2014/main" id="{5902E368-4727-F4B4-0A04-A22A9A6874E9}"/>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D715F27-F616-FB89-937E-D2D8E6B08B5A}"/>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539150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1506E-59A8-A135-9C2A-185E8DECFC9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D1A8BD2B-CF5D-7D70-2198-6E010F4A664D}"/>
              </a:ext>
            </a:extLst>
          </p:cNvPr>
          <p:cNvSpPr>
            <a:spLocks noGrp="1"/>
          </p:cNvSpPr>
          <p:nvPr>
            <p:ph type="dt" sz="half" idx="10"/>
          </p:nvPr>
        </p:nvSpPr>
        <p:spPr/>
        <p:txBody>
          <a:bodyPr/>
          <a:lstStyle/>
          <a:p>
            <a:fld id="{DCCA6184-5BDB-496B-AEFE-578558F125B5}" type="datetime1">
              <a:rPr lang="es-MX" smtClean="0"/>
              <a:t>14/06/2026</a:t>
            </a:fld>
            <a:endParaRPr lang="es-MX"/>
          </a:p>
        </p:txBody>
      </p:sp>
      <p:sp>
        <p:nvSpPr>
          <p:cNvPr id="4" name="Marcador de pie de página 3">
            <a:extLst>
              <a:ext uri="{FF2B5EF4-FFF2-40B4-BE49-F238E27FC236}">
                <a16:creationId xmlns:a16="http://schemas.microsoft.com/office/drawing/2014/main" id="{4B056DB0-1B9D-A2F2-0D48-F0B398A354E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1B370AAC-341D-1091-2091-8033313067C5}"/>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3150765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86D0857-B313-94F9-F84F-04B0902FD664}"/>
              </a:ext>
            </a:extLst>
          </p:cNvPr>
          <p:cNvSpPr>
            <a:spLocks noGrp="1"/>
          </p:cNvSpPr>
          <p:nvPr>
            <p:ph type="dt" sz="half" idx="10"/>
          </p:nvPr>
        </p:nvSpPr>
        <p:spPr/>
        <p:txBody>
          <a:bodyPr/>
          <a:lstStyle/>
          <a:p>
            <a:fld id="{6A4D77B3-79B8-431A-86BF-1E891335263C}" type="datetime1">
              <a:rPr lang="es-MX" smtClean="0"/>
              <a:t>14/06/2026</a:t>
            </a:fld>
            <a:endParaRPr lang="es-MX"/>
          </a:p>
        </p:txBody>
      </p:sp>
      <p:sp>
        <p:nvSpPr>
          <p:cNvPr id="3" name="Marcador de pie de página 2">
            <a:extLst>
              <a:ext uri="{FF2B5EF4-FFF2-40B4-BE49-F238E27FC236}">
                <a16:creationId xmlns:a16="http://schemas.microsoft.com/office/drawing/2014/main" id="{FCA96090-1487-6659-42B3-86F1F67D8BA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1840B85F-80E1-ED23-1B72-1F50B695E3AC}"/>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2045485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0825EF-64BC-349B-B5BE-0451334C4FC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A22FF27-344F-3816-B11A-ED5F1588A7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3A585727-35FA-D89B-7981-1A629E48B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4D6B6EC-2A5A-5A23-CB3C-D4EDEB720DF7}"/>
              </a:ext>
            </a:extLst>
          </p:cNvPr>
          <p:cNvSpPr>
            <a:spLocks noGrp="1"/>
          </p:cNvSpPr>
          <p:nvPr>
            <p:ph type="dt" sz="half" idx="10"/>
          </p:nvPr>
        </p:nvSpPr>
        <p:spPr/>
        <p:txBody>
          <a:bodyPr/>
          <a:lstStyle/>
          <a:p>
            <a:fld id="{4C699D8A-A8A2-4CE3-BF4E-A969A97A1284}" type="datetime1">
              <a:rPr lang="es-MX" smtClean="0"/>
              <a:t>14/06/2026</a:t>
            </a:fld>
            <a:endParaRPr lang="es-MX"/>
          </a:p>
        </p:txBody>
      </p:sp>
      <p:sp>
        <p:nvSpPr>
          <p:cNvPr id="6" name="Marcador de pie de página 5">
            <a:extLst>
              <a:ext uri="{FF2B5EF4-FFF2-40B4-BE49-F238E27FC236}">
                <a16:creationId xmlns:a16="http://schemas.microsoft.com/office/drawing/2014/main" id="{E718DB17-41EF-A2D0-B054-584B2302D20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36DCDD-4DDE-3961-D3AE-85CEE620DDB1}"/>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2276222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3078FF-47E4-04B0-5B35-A05D56D65A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520AEC4-D9EB-9E08-D72A-E9C0F9A561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A05BAD7-54DF-2289-4206-A62D5D9888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5A0FE44-CE99-97D7-24BA-23F2357750F7}"/>
              </a:ext>
            </a:extLst>
          </p:cNvPr>
          <p:cNvSpPr>
            <a:spLocks noGrp="1"/>
          </p:cNvSpPr>
          <p:nvPr>
            <p:ph type="dt" sz="half" idx="10"/>
          </p:nvPr>
        </p:nvSpPr>
        <p:spPr/>
        <p:txBody>
          <a:bodyPr/>
          <a:lstStyle/>
          <a:p>
            <a:fld id="{8FF7A8F9-87B7-436A-ABA1-83E2C111AEB2}" type="datetime1">
              <a:rPr lang="es-MX" smtClean="0"/>
              <a:t>14/06/2026</a:t>
            </a:fld>
            <a:endParaRPr lang="es-MX"/>
          </a:p>
        </p:txBody>
      </p:sp>
      <p:sp>
        <p:nvSpPr>
          <p:cNvPr id="6" name="Marcador de pie de página 5">
            <a:extLst>
              <a:ext uri="{FF2B5EF4-FFF2-40B4-BE49-F238E27FC236}">
                <a16:creationId xmlns:a16="http://schemas.microsoft.com/office/drawing/2014/main" id="{4654CD97-040F-0FB4-4614-C521934BAA5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347FE50-40C0-667A-F842-5B2E40FCDF9F}"/>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2052970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D0E8EB-9325-0612-876A-66447D9B878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90421D2-55D3-6A92-4FC5-4F6B57051FC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097A8C3-F823-9FC5-6516-AA79A3DB4D76}"/>
              </a:ext>
            </a:extLst>
          </p:cNvPr>
          <p:cNvSpPr>
            <a:spLocks noGrp="1"/>
          </p:cNvSpPr>
          <p:nvPr>
            <p:ph type="dt" sz="half" idx="10"/>
          </p:nvPr>
        </p:nvSpPr>
        <p:spPr/>
        <p:txBody>
          <a:bodyPr/>
          <a:lstStyle/>
          <a:p>
            <a:fld id="{46945D34-2916-4C1F-9FE4-E82281A66553}" type="datetime1">
              <a:rPr lang="es-MX" smtClean="0"/>
              <a:t>14/06/2026</a:t>
            </a:fld>
            <a:endParaRPr lang="es-MX"/>
          </a:p>
        </p:txBody>
      </p:sp>
      <p:sp>
        <p:nvSpPr>
          <p:cNvPr id="5" name="Marcador de pie de página 4">
            <a:extLst>
              <a:ext uri="{FF2B5EF4-FFF2-40B4-BE49-F238E27FC236}">
                <a16:creationId xmlns:a16="http://schemas.microsoft.com/office/drawing/2014/main" id="{C6EDFBD6-F36E-6448-C3BF-072A4B8FE7F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CC982E0-7767-A470-B17A-6C74B81FE989}"/>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1830808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97C2323-CAC7-10AE-7F13-1374CF529BE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9EEED6B-637D-57E5-8EC1-023D2299244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2D9C38-E682-A4EA-5C82-3AD9BBAA51AA}"/>
              </a:ext>
            </a:extLst>
          </p:cNvPr>
          <p:cNvSpPr>
            <a:spLocks noGrp="1"/>
          </p:cNvSpPr>
          <p:nvPr>
            <p:ph type="dt" sz="half" idx="10"/>
          </p:nvPr>
        </p:nvSpPr>
        <p:spPr/>
        <p:txBody>
          <a:bodyPr/>
          <a:lstStyle/>
          <a:p>
            <a:fld id="{461A6ACD-10CC-4A3E-A188-F27929E5ED8F}" type="datetime1">
              <a:rPr lang="es-MX" smtClean="0"/>
              <a:t>14/06/2026</a:t>
            </a:fld>
            <a:endParaRPr lang="es-MX"/>
          </a:p>
        </p:txBody>
      </p:sp>
      <p:sp>
        <p:nvSpPr>
          <p:cNvPr id="5" name="Marcador de pie de página 4">
            <a:extLst>
              <a:ext uri="{FF2B5EF4-FFF2-40B4-BE49-F238E27FC236}">
                <a16:creationId xmlns:a16="http://schemas.microsoft.com/office/drawing/2014/main" id="{A8605DF0-9D90-F920-6163-239BC417B0E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06D8742-8709-C2F6-0FF2-5B0CB908670F}"/>
              </a:ext>
            </a:extLst>
          </p:cNvPr>
          <p:cNvSpPr>
            <a:spLocks noGrp="1"/>
          </p:cNvSpPr>
          <p:nvPr>
            <p:ph type="sldNum" sz="quarter" idx="12"/>
          </p:nvPr>
        </p:nvSpPr>
        <p:spPr/>
        <p:txBody>
          <a:bodyPr/>
          <a:lstStyle/>
          <a:p>
            <a:fld id="{E7875DD0-B934-4E78-B489-1FA609A3E309}" type="slidenum">
              <a:rPr lang="es-MX" smtClean="0"/>
              <a:t>‹Nº›</a:t>
            </a:fld>
            <a:endParaRPr lang="es-MX"/>
          </a:p>
        </p:txBody>
      </p:sp>
    </p:spTree>
    <p:extLst>
      <p:ext uri="{BB962C8B-B14F-4D97-AF65-F5344CB8AC3E}">
        <p14:creationId xmlns:p14="http://schemas.microsoft.com/office/powerpoint/2010/main" val="156530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60B688A-9D07-5DCD-1B3C-F1193CFD20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9921460-626E-A690-8090-F9E9CBB5B4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3FD8813-E08C-9278-C084-32870AC73B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8DD4F7-FAF4-4F52-B90B-48BC2C4A3672}" type="datetime1">
              <a:rPr lang="es-MX" smtClean="0"/>
              <a:t>14/06/2026</a:t>
            </a:fld>
            <a:endParaRPr lang="es-MX"/>
          </a:p>
        </p:txBody>
      </p:sp>
      <p:sp>
        <p:nvSpPr>
          <p:cNvPr id="5" name="Marcador de pie de página 4">
            <a:extLst>
              <a:ext uri="{FF2B5EF4-FFF2-40B4-BE49-F238E27FC236}">
                <a16:creationId xmlns:a16="http://schemas.microsoft.com/office/drawing/2014/main" id="{F0064035-61E5-2B02-05CC-7F931944C5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224B78CD-3CDA-9294-80F5-C015D18A03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875DD0-B934-4E78-B489-1FA609A3E309}" type="slidenum">
              <a:rPr lang="es-MX" smtClean="0"/>
              <a:t>‹Nº›</a:t>
            </a:fld>
            <a:endParaRPr lang="es-MX"/>
          </a:p>
        </p:txBody>
      </p:sp>
    </p:spTree>
    <p:extLst>
      <p:ext uri="{BB962C8B-B14F-4D97-AF65-F5344CB8AC3E}">
        <p14:creationId xmlns:p14="http://schemas.microsoft.com/office/powerpoint/2010/main" val="459267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pLAQRmO271g&amp;t=22s" TargetMode="External"/><Relationship Id="rId2" Type="http://schemas.openxmlformats.org/officeDocument/2006/relationships/hyperlink" Target="https://www.youtube.com/watch?v=5XNIkK9RNhA"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C203497-D26B-EDE7-F4CF-BDC12FED76A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23070" y="1355279"/>
            <a:ext cx="650875" cy="5010150"/>
          </a:xfrm>
          <a:prstGeom prst="rect">
            <a:avLst/>
          </a:prstGeom>
          <a:noFill/>
        </p:spPr>
      </p:pic>
      <p:pic>
        <p:nvPicPr>
          <p:cNvPr id="5" name="Imagen 4">
            <a:extLst>
              <a:ext uri="{FF2B5EF4-FFF2-40B4-BE49-F238E27FC236}">
                <a16:creationId xmlns:a16="http://schemas.microsoft.com/office/drawing/2014/main" id="{DBBCEA77-BD0A-8950-7674-FFA44D2312B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04579" y="252006"/>
            <a:ext cx="2707361" cy="754015"/>
          </a:xfrm>
          <a:prstGeom prst="rect">
            <a:avLst/>
          </a:prstGeom>
          <a:noFill/>
        </p:spPr>
      </p:pic>
      <p:pic>
        <p:nvPicPr>
          <p:cNvPr id="6" name="Imagen 5">
            <a:extLst>
              <a:ext uri="{FF2B5EF4-FFF2-40B4-BE49-F238E27FC236}">
                <a16:creationId xmlns:a16="http://schemas.microsoft.com/office/drawing/2014/main" id="{ADF5A566-2FDC-1BF4-79F8-3B2EF23C6A08}"/>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5224507" y="197283"/>
            <a:ext cx="1934058" cy="970859"/>
          </a:xfrm>
          <a:prstGeom prst="rect">
            <a:avLst/>
          </a:prstGeom>
          <a:noFill/>
        </p:spPr>
      </p:pic>
      <p:pic>
        <p:nvPicPr>
          <p:cNvPr id="7" name="Imagen 6">
            <a:extLst>
              <a:ext uri="{FF2B5EF4-FFF2-40B4-BE49-F238E27FC236}">
                <a16:creationId xmlns:a16="http://schemas.microsoft.com/office/drawing/2014/main" id="{3CE94ECB-8A75-5DC0-E056-0DBEFD5C5C12}"/>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8644807" y="177989"/>
            <a:ext cx="2188845" cy="1177290"/>
          </a:xfrm>
          <a:prstGeom prst="rect">
            <a:avLst/>
          </a:prstGeom>
          <a:noFill/>
        </p:spPr>
      </p:pic>
      <p:sp>
        <p:nvSpPr>
          <p:cNvPr id="8" name="CuadroTexto 7">
            <a:extLst>
              <a:ext uri="{FF2B5EF4-FFF2-40B4-BE49-F238E27FC236}">
                <a16:creationId xmlns:a16="http://schemas.microsoft.com/office/drawing/2014/main" id="{63E367BF-2978-B8AE-D54C-120A20B40F03}"/>
              </a:ext>
            </a:extLst>
          </p:cNvPr>
          <p:cNvSpPr txBox="1"/>
          <p:nvPr/>
        </p:nvSpPr>
        <p:spPr>
          <a:xfrm>
            <a:off x="1839512" y="1246095"/>
            <a:ext cx="8191500" cy="640625"/>
          </a:xfrm>
          <a:prstGeom prst="rect">
            <a:avLst/>
          </a:prstGeom>
          <a:noFill/>
        </p:spPr>
        <p:txBody>
          <a:bodyPr wrap="square">
            <a:spAutoFit/>
          </a:bodyPr>
          <a:lstStyle/>
          <a:p>
            <a:pPr algn="ctr">
              <a:lnSpc>
                <a:spcPct val="106000"/>
              </a:lnSpc>
              <a:spcAft>
                <a:spcPts val="800"/>
              </a:spcAft>
              <a:tabLst>
                <a:tab pos="619125" algn="l"/>
              </a:tabLst>
            </a:pPr>
            <a:r>
              <a:rPr lang="es-ES" sz="1400" b="1"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619125" algn="l"/>
              </a:tabLst>
            </a:pPr>
            <a:r>
              <a:rPr lang="es-ES" sz="1400" b="1" dirty="0">
                <a:effectLst/>
                <a:latin typeface="Arial" panose="020B0604020202020204" pitchFamily="34" charset="0"/>
                <a:ea typeface="Calibri" panose="020F0502020204030204" pitchFamily="34" charset="0"/>
                <a:cs typeface="Times New Roman" panose="02020603050405020304" pitchFamily="18" charset="0"/>
              </a:rPr>
              <a:t> INSTITUTO TECNOLÓGICO DE FRONTERA COMALAPA</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9AD4A8E8-F0D5-9520-84BF-4953B06CC354}"/>
              </a:ext>
            </a:extLst>
          </p:cNvPr>
          <p:cNvSpPr txBox="1"/>
          <p:nvPr/>
        </p:nvSpPr>
        <p:spPr>
          <a:xfrm>
            <a:off x="3225717" y="1882785"/>
            <a:ext cx="5419090" cy="5001882"/>
          </a:xfrm>
          <a:prstGeom prst="rect">
            <a:avLst/>
          </a:prstGeom>
          <a:noFill/>
        </p:spPr>
        <p:txBody>
          <a:bodyPr wrap="square">
            <a:spAutoFit/>
          </a:bodyPr>
          <a:lstStyle/>
          <a:p>
            <a:pPr algn="ctr">
              <a:lnSpc>
                <a:spcPct val="106000"/>
              </a:lnSpc>
              <a:spcAft>
                <a:spcPts val="800"/>
              </a:spcAft>
              <a:tabLst>
                <a:tab pos="619125" algn="l"/>
              </a:tabLst>
            </a:pPr>
            <a:r>
              <a:rPr lang="es-ES" sz="1600" u="heavy" dirty="0">
                <a:effectLst/>
                <a:latin typeface="Arial" panose="020B0604020202020204" pitchFamily="34" charset="0"/>
                <a:ea typeface="Calibri" panose="020F0502020204030204" pitchFamily="34" charset="0"/>
                <a:cs typeface="Times New Roman" panose="02020603050405020304" pitchFamily="18" charset="0"/>
              </a:rPr>
              <a:t>Carrera</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619125" algn="l"/>
              </a:tabLst>
            </a:pPr>
            <a:r>
              <a:rPr lang="es-ES" sz="1400" b="1" dirty="0">
                <a:effectLst/>
                <a:latin typeface="Arial" panose="020B0604020202020204" pitchFamily="34" charset="0"/>
                <a:ea typeface="Calibri" panose="020F0502020204030204" pitchFamily="34" charset="0"/>
                <a:cs typeface="Times New Roman" panose="02020603050405020304" pitchFamily="18" charset="0"/>
              </a:rPr>
              <a:t>Ingeniería En Sistemas Computacionales</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619125" algn="l"/>
              </a:tabLst>
            </a:pPr>
            <a:r>
              <a:rPr lang="es-ES" sz="1400" u="heavy" dirty="0">
                <a:effectLst/>
                <a:latin typeface="Arial" panose="020B0604020202020204" pitchFamily="34" charset="0"/>
                <a:ea typeface="Calibri" panose="020F0502020204030204" pitchFamily="34" charset="0"/>
                <a:cs typeface="Times New Roman" panose="02020603050405020304" pitchFamily="18" charset="0"/>
              </a:rPr>
              <a:t>Materia</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sz="1400" b="1" dirty="0">
                <a:latin typeface="Arial" panose="020B0604020202020204" pitchFamily="34" charset="0"/>
                <a:ea typeface="Calibri" panose="020F0502020204030204" pitchFamily="34" charset="0"/>
                <a:cs typeface="Times New Roman" panose="02020603050405020304" pitchFamily="18" charset="0"/>
              </a:rPr>
              <a:t>Programación Web </a:t>
            </a:r>
          </a:p>
          <a:p>
            <a:pPr algn="ctr">
              <a:lnSpc>
                <a:spcPct val="106000"/>
              </a:lnSpc>
              <a:spcAft>
                <a:spcPts val="800"/>
              </a:spcAft>
            </a:pPr>
            <a:r>
              <a:rPr lang="es-MX" sz="1400" b="1" u="heavy" dirty="0">
                <a:latin typeface="Arial" panose="020B0604020202020204" pitchFamily="34" charset="0"/>
                <a:ea typeface="Calibri" panose="020F0502020204030204" pitchFamily="34" charset="0"/>
                <a:cs typeface="Times New Roman" panose="02020603050405020304" pitchFamily="18" charset="0"/>
              </a:rPr>
              <a:t>Tema</a:t>
            </a:r>
          </a:p>
          <a:p>
            <a:pPr algn="ctr">
              <a:lnSpc>
                <a:spcPct val="106000"/>
              </a:lnSpc>
              <a:spcAft>
                <a:spcPts val="800"/>
              </a:spcAft>
            </a:pPr>
            <a:r>
              <a:rPr lang="es-MX" sz="1400" b="1" dirty="0">
                <a:effectLst/>
                <a:latin typeface="Arial" panose="020B0604020202020204" pitchFamily="34" charset="0"/>
                <a:ea typeface="Calibri" panose="020F0502020204030204" pitchFamily="34" charset="0"/>
                <a:cs typeface="Arial" panose="020B0604020202020204" pitchFamily="34" charset="0"/>
              </a:rPr>
              <a:t>Desarrollo De Funciones De Autenticación Y Contacto En Una Aplicación Web Con Angular Y </a:t>
            </a:r>
            <a:r>
              <a:rPr lang="es-MX" sz="1400" b="1" dirty="0" err="1">
                <a:effectLst/>
                <a:latin typeface="Arial" panose="020B0604020202020204" pitchFamily="34" charset="0"/>
                <a:ea typeface="Calibri" panose="020F0502020204030204" pitchFamily="34" charset="0"/>
                <a:cs typeface="Arial" panose="020B0604020202020204" pitchFamily="34" charset="0"/>
              </a:rPr>
              <a:t>Supabase</a:t>
            </a:r>
            <a:endParaRPr lang="es-MX" sz="1400" b="1" dirty="0">
              <a:effectLst/>
              <a:latin typeface="Arial" panose="020B0604020202020204" pitchFamily="34" charset="0"/>
              <a:ea typeface="Calibri" panose="020F0502020204030204" pitchFamily="34" charset="0"/>
              <a:cs typeface="Arial" panose="020B0604020202020204" pitchFamily="34" charset="0"/>
            </a:endParaRPr>
          </a:p>
          <a:p>
            <a:pPr algn="ctr">
              <a:lnSpc>
                <a:spcPct val="106000"/>
              </a:lnSpc>
              <a:spcAft>
                <a:spcPts val="800"/>
              </a:spcAft>
            </a:pPr>
            <a:r>
              <a:rPr lang="es-ES" sz="1600" u="heavy" dirty="0">
                <a:effectLst/>
                <a:latin typeface="Arial" panose="020B0604020202020204" pitchFamily="34" charset="0"/>
                <a:ea typeface="Calibri" panose="020F0502020204030204" pitchFamily="34" charset="0"/>
                <a:cs typeface="Times New Roman" panose="02020603050405020304" pitchFamily="18" charset="0"/>
              </a:rPr>
              <a:t>Actividad </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3129280" algn="ctr"/>
              </a:tabLst>
            </a:pPr>
            <a:r>
              <a:rPr lang="es-ES" sz="1400" b="1" dirty="0">
                <a:latin typeface="Arial" panose="020B0604020202020204" pitchFamily="34" charset="0"/>
                <a:ea typeface="Calibri" panose="020F0502020204030204" pitchFamily="34" charset="0"/>
                <a:cs typeface="Times New Roman" panose="02020603050405020304" pitchFamily="18" charset="0"/>
              </a:rPr>
              <a:t>5.2. Reporte De Practica</a:t>
            </a:r>
            <a:endParaRPr lang="es-ES" sz="1400" b="1"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3129280" algn="ctr"/>
              </a:tabLst>
            </a:pPr>
            <a:r>
              <a:rPr lang="es-ES" sz="1600" u="heavy" dirty="0">
                <a:effectLst/>
                <a:latin typeface="Arial" panose="020B0604020202020204" pitchFamily="34" charset="0"/>
                <a:ea typeface="Calibri" panose="020F0502020204030204" pitchFamily="34" charset="0"/>
                <a:cs typeface="Times New Roman" panose="02020603050405020304" pitchFamily="18" charset="0"/>
              </a:rPr>
              <a:t>Docente</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sz="1400" b="1" dirty="0">
                <a:effectLst/>
                <a:latin typeface="Arial" panose="020B0604020202020204" pitchFamily="34" charset="0"/>
                <a:ea typeface="Calibri" panose="020F0502020204030204" pitchFamily="34" charset="0"/>
                <a:cs typeface="Times New Roman" panose="02020603050405020304" pitchFamily="18" charset="0"/>
              </a:rPr>
              <a:t>Francisco Javier Mingo Velázquez   </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619125" algn="l"/>
              </a:tabLst>
            </a:pPr>
            <a:r>
              <a:rPr lang="es-ES" sz="1600" u="heavy" dirty="0">
                <a:effectLst/>
                <a:latin typeface="Arial" panose="020B0604020202020204" pitchFamily="34" charset="0"/>
                <a:ea typeface="Calibri" panose="020F0502020204030204" pitchFamily="34" charset="0"/>
                <a:cs typeface="Times New Roman" panose="02020603050405020304" pitchFamily="18" charset="0"/>
              </a:rPr>
              <a:t>Estudiante</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619125" algn="l"/>
              </a:tabLst>
            </a:pPr>
            <a:r>
              <a:rPr lang="es-ES" sz="1400" b="1" dirty="0">
                <a:effectLst/>
                <a:latin typeface="Arial" panose="020B0604020202020204" pitchFamily="34" charset="0"/>
                <a:ea typeface="Calibri" panose="020F0502020204030204" pitchFamily="34" charset="0"/>
                <a:cs typeface="Times New Roman" panose="02020603050405020304" pitchFamily="18" charset="0"/>
              </a:rPr>
              <a:t>Madeni Pérez Mazariegos </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619125" algn="l"/>
              </a:tabLst>
            </a:pPr>
            <a:r>
              <a:rPr lang="es-ES" sz="1600" u="heavy" dirty="0">
                <a:effectLst/>
                <a:latin typeface="Arial" panose="020B0604020202020204" pitchFamily="34" charset="0"/>
                <a:ea typeface="Calibri" panose="020F0502020204030204" pitchFamily="34" charset="0"/>
                <a:cs typeface="Times New Roman" panose="02020603050405020304" pitchFamily="18" charset="0"/>
              </a:rPr>
              <a:t>Numero de Control</a:t>
            </a: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es-ES" sz="1400" b="1" dirty="0">
                <a:effectLst/>
                <a:latin typeface="Arial" panose="020B0604020202020204" pitchFamily="34" charset="0"/>
                <a:ea typeface="Calibri" panose="020F0502020204030204" pitchFamily="34" charset="0"/>
              </a:rPr>
              <a:t>221260055</a:t>
            </a:r>
            <a:endParaRPr lang="es-MX" sz="1600" dirty="0"/>
          </a:p>
        </p:txBody>
      </p:sp>
      <p:sp>
        <p:nvSpPr>
          <p:cNvPr id="10" name="CuadroTexto 9">
            <a:extLst>
              <a:ext uri="{FF2B5EF4-FFF2-40B4-BE49-F238E27FC236}">
                <a16:creationId xmlns:a16="http://schemas.microsoft.com/office/drawing/2014/main" id="{8621760D-62D5-C152-90B3-251D49C325C3}"/>
              </a:ext>
            </a:extLst>
          </p:cNvPr>
          <p:cNvSpPr txBox="1"/>
          <p:nvPr/>
        </p:nvSpPr>
        <p:spPr>
          <a:xfrm>
            <a:off x="6983012" y="5942461"/>
            <a:ext cx="6096000" cy="673198"/>
          </a:xfrm>
          <a:prstGeom prst="rect">
            <a:avLst/>
          </a:prstGeom>
          <a:noFill/>
        </p:spPr>
        <p:txBody>
          <a:bodyPr wrap="square">
            <a:spAutoFit/>
          </a:bodyPr>
          <a:lstStyle/>
          <a:p>
            <a:pPr algn="ctr">
              <a:lnSpc>
                <a:spcPct val="106000"/>
              </a:lnSpc>
              <a:spcAft>
                <a:spcPts val="800"/>
              </a:spcAft>
            </a:pPr>
            <a:r>
              <a:rPr lang="es-MX" sz="1600" u="sng" dirty="0">
                <a:effectLst/>
                <a:latin typeface="Arial" panose="020B0604020202020204" pitchFamily="34" charset="0"/>
                <a:ea typeface="Calibri" panose="020F0502020204030204" pitchFamily="34" charset="0"/>
                <a:cs typeface="Times New Roman" panose="02020603050405020304" pitchFamily="18" charset="0"/>
              </a:rPr>
              <a:t>Fecha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sz="1400" b="1" dirty="0">
                <a:latin typeface="Arial" panose="020B0604020202020204" pitchFamily="34" charset="0"/>
                <a:ea typeface="Calibri" panose="020F0502020204030204" pitchFamily="34" charset="0"/>
                <a:cs typeface="Times New Roman" panose="02020603050405020304" pitchFamily="18" charset="0"/>
              </a:rPr>
              <a:t>12</a:t>
            </a:r>
            <a:r>
              <a:rPr lang="es-MX" sz="1400" b="1" dirty="0">
                <a:effectLst/>
                <a:latin typeface="Arial" panose="020B0604020202020204" pitchFamily="34" charset="0"/>
                <a:ea typeface="Calibri" panose="020F0502020204030204" pitchFamily="34" charset="0"/>
                <a:cs typeface="Times New Roman" panose="02020603050405020304" pitchFamily="18" charset="0"/>
              </a:rPr>
              <a:t>/06/2026</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Marcador de número de diapositiva 10">
            <a:extLst>
              <a:ext uri="{FF2B5EF4-FFF2-40B4-BE49-F238E27FC236}">
                <a16:creationId xmlns:a16="http://schemas.microsoft.com/office/drawing/2014/main" id="{1BE4366C-69D3-D31E-CC63-53078966BF4E}"/>
              </a:ext>
            </a:extLst>
          </p:cNvPr>
          <p:cNvSpPr>
            <a:spLocks noGrp="1"/>
          </p:cNvSpPr>
          <p:nvPr>
            <p:ph type="sldNum" sz="quarter" idx="12"/>
          </p:nvPr>
        </p:nvSpPr>
        <p:spPr/>
        <p:txBody>
          <a:bodyPr/>
          <a:lstStyle/>
          <a:p>
            <a:fld id="{E7875DD0-B934-4E78-B489-1FA609A3E309}" type="slidenum">
              <a:rPr lang="es-MX" smtClean="0"/>
              <a:t>1</a:t>
            </a:fld>
            <a:endParaRPr lang="es-MX"/>
          </a:p>
        </p:txBody>
      </p:sp>
    </p:spTree>
    <p:extLst>
      <p:ext uri="{BB962C8B-B14F-4D97-AF65-F5344CB8AC3E}">
        <p14:creationId xmlns:p14="http://schemas.microsoft.com/office/powerpoint/2010/main" val="1857746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95CE0F1-C056-D40C-394F-E0476D190585}"/>
              </a:ext>
            </a:extLst>
          </p:cNvPr>
          <p:cNvSpPr txBox="1"/>
          <p:nvPr/>
        </p:nvSpPr>
        <p:spPr>
          <a:xfrm>
            <a:off x="1493241" y="728153"/>
            <a:ext cx="9696836" cy="3279231"/>
          </a:xfrm>
          <a:prstGeom prst="rect">
            <a:avLst/>
          </a:prstGeom>
          <a:noFill/>
        </p:spPr>
        <p:txBody>
          <a:bodyPr wrap="square" rtlCol="0">
            <a:spAutoFit/>
          </a:bodyPr>
          <a:lstStyle/>
          <a:p>
            <a:pPr algn="ctr">
              <a:lnSpc>
                <a:spcPct val="150000"/>
              </a:lnSpc>
            </a:pPr>
            <a:r>
              <a:rPr lang="es-MX" b="1" dirty="0">
                <a:solidFill>
                  <a:prstClr val="black"/>
                </a:solidFill>
                <a:latin typeface="Arial" panose="020B0604020202020204" pitchFamily="34" charset="0"/>
                <a:cs typeface="Arial" panose="020B0604020202020204" pitchFamily="34" charset="0"/>
              </a:rPr>
              <a:t>INDICE </a:t>
            </a:r>
          </a:p>
          <a:p>
            <a:pPr>
              <a:lnSpc>
                <a:spcPct val="150000"/>
              </a:lnSpc>
            </a:pPr>
            <a:endParaRPr lang="es-MX" sz="1000" b="1" dirty="0">
              <a:solidFill>
                <a:prstClr val="black"/>
              </a:solidFill>
              <a:latin typeface="Arial" panose="020B0604020202020204" pitchFamily="34" charset="0"/>
              <a:cs typeface="Arial" panose="020B0604020202020204" pitchFamily="34" charset="0"/>
            </a:endParaRPr>
          </a:p>
          <a:p>
            <a:pPr>
              <a:lnSpc>
                <a:spcPct val="150000"/>
              </a:lnSpc>
            </a:pPr>
            <a:r>
              <a:rPr lang="es-MX" b="1" dirty="0">
                <a:solidFill>
                  <a:prstClr val="black"/>
                </a:solidFill>
                <a:latin typeface="Arial" panose="020B0604020202020204" pitchFamily="34" charset="0"/>
                <a:cs typeface="Arial" panose="020B0604020202020204" pitchFamily="34" charset="0"/>
              </a:rPr>
              <a:t>INTRODUCCION</a:t>
            </a:r>
            <a:r>
              <a:rPr lang="es-MX" dirty="0">
                <a:solidFill>
                  <a:prstClr val="black"/>
                </a:solidFill>
                <a:latin typeface="Calibri" panose="020F0502020204030204"/>
              </a:rPr>
              <a:t>………………………………………………………………………………………………………….…    3</a:t>
            </a:r>
          </a:p>
          <a:p>
            <a:pPr>
              <a:lnSpc>
                <a:spcPct val="150000"/>
              </a:lnSpc>
            </a:pPr>
            <a:r>
              <a:rPr lang="es-MX" b="1" dirty="0">
                <a:solidFill>
                  <a:prstClr val="black"/>
                </a:solidFill>
                <a:latin typeface="Arial" panose="020B0604020202020204" pitchFamily="34" charset="0"/>
                <a:cs typeface="Arial" panose="020B0604020202020204" pitchFamily="34" charset="0"/>
              </a:rPr>
              <a:t>JUSTIFICACION</a:t>
            </a:r>
            <a:r>
              <a:rPr lang="es-MX" dirty="0">
                <a:solidFill>
                  <a:prstClr val="black"/>
                </a:solidFill>
                <a:latin typeface="Calibri" panose="020F0502020204030204"/>
              </a:rPr>
              <a:t> ………….………………………………………………………………………………………………..    4</a:t>
            </a:r>
          </a:p>
          <a:p>
            <a:pPr>
              <a:lnSpc>
                <a:spcPct val="150000"/>
              </a:lnSpc>
            </a:pPr>
            <a:r>
              <a:rPr lang="es-MX" sz="2000" b="1" dirty="0">
                <a:solidFill>
                  <a:prstClr val="black"/>
                </a:solidFill>
                <a:latin typeface="Calibri" panose="020F0502020204030204"/>
              </a:rPr>
              <a:t>DESARROLLO DE FUNCIONES DE AUTENTICACIÓN Y CONTACTO EN UNA </a:t>
            </a:r>
          </a:p>
          <a:p>
            <a:pPr>
              <a:lnSpc>
                <a:spcPct val="150000"/>
              </a:lnSpc>
            </a:pPr>
            <a:r>
              <a:rPr lang="es-MX" sz="2000" b="1" dirty="0">
                <a:solidFill>
                  <a:prstClr val="black"/>
                </a:solidFill>
                <a:latin typeface="Calibri" panose="020F0502020204030204"/>
              </a:rPr>
              <a:t>APLICACIÓN WEB CON ANGULAR Y SUPABASE</a:t>
            </a:r>
            <a:r>
              <a:rPr lang="es-MX" dirty="0">
                <a:solidFill>
                  <a:prstClr val="black"/>
                </a:solidFill>
                <a:latin typeface="Calibri" panose="020F0502020204030204"/>
              </a:rPr>
              <a:t>……………………….………….……………………    5</a:t>
            </a:r>
          </a:p>
          <a:p>
            <a:pPr>
              <a:lnSpc>
                <a:spcPct val="150000"/>
              </a:lnSpc>
            </a:pPr>
            <a:r>
              <a:rPr lang="es-MX" b="1" dirty="0">
                <a:solidFill>
                  <a:prstClr val="black"/>
                </a:solidFill>
                <a:latin typeface="Arial" panose="020B0604020202020204" pitchFamily="34" charset="0"/>
                <a:cs typeface="Arial" panose="020B0604020202020204" pitchFamily="34" charset="0"/>
              </a:rPr>
              <a:t>CONCLUSION</a:t>
            </a:r>
            <a:r>
              <a:rPr lang="es-MX" dirty="0">
                <a:solidFill>
                  <a:prstClr val="black"/>
                </a:solidFill>
                <a:latin typeface="Calibri" panose="020F0502020204030204"/>
              </a:rPr>
              <a:t> ……………………………………………………………………………………………………………….   23 </a:t>
            </a:r>
            <a:r>
              <a:rPr lang="es-MX" b="1" dirty="0">
                <a:solidFill>
                  <a:prstClr val="black"/>
                </a:solidFill>
                <a:latin typeface="Arial" panose="020B0604020202020204" pitchFamily="34" charset="0"/>
                <a:cs typeface="Arial" panose="020B0604020202020204" pitchFamily="34" charset="0"/>
              </a:rPr>
              <a:t>FUENTES DE INFORMACION </a:t>
            </a:r>
            <a:r>
              <a:rPr lang="es-MX" dirty="0">
                <a:solidFill>
                  <a:prstClr val="black"/>
                </a:solidFill>
                <a:latin typeface="Calibri" panose="020F0502020204030204"/>
              </a:rPr>
              <a:t>………………….………………………………………………………………..   24</a:t>
            </a:r>
          </a:p>
        </p:txBody>
      </p:sp>
      <p:sp>
        <p:nvSpPr>
          <p:cNvPr id="3" name="Marcador de número de diapositiva 2">
            <a:extLst>
              <a:ext uri="{FF2B5EF4-FFF2-40B4-BE49-F238E27FC236}">
                <a16:creationId xmlns:a16="http://schemas.microsoft.com/office/drawing/2014/main" id="{5BB815E3-E518-BD87-A18A-2348DB079065}"/>
              </a:ext>
            </a:extLst>
          </p:cNvPr>
          <p:cNvSpPr>
            <a:spLocks noGrp="1"/>
          </p:cNvSpPr>
          <p:nvPr>
            <p:ph type="sldNum" sz="quarter" idx="12"/>
          </p:nvPr>
        </p:nvSpPr>
        <p:spPr/>
        <p:txBody>
          <a:bodyPr/>
          <a:lstStyle/>
          <a:p>
            <a:fld id="{E7875DD0-B934-4E78-B489-1FA609A3E309}" type="slidenum">
              <a:rPr lang="es-MX" smtClean="0"/>
              <a:t>2</a:t>
            </a:fld>
            <a:endParaRPr lang="es-MX"/>
          </a:p>
        </p:txBody>
      </p:sp>
    </p:spTree>
    <p:extLst>
      <p:ext uri="{BB962C8B-B14F-4D97-AF65-F5344CB8AC3E}">
        <p14:creationId xmlns:p14="http://schemas.microsoft.com/office/powerpoint/2010/main" val="1800176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603768E-8BCA-1303-63CF-0DD1D5C88660}"/>
              </a:ext>
            </a:extLst>
          </p:cNvPr>
          <p:cNvSpPr txBox="1"/>
          <p:nvPr/>
        </p:nvSpPr>
        <p:spPr>
          <a:xfrm>
            <a:off x="1785014" y="586939"/>
            <a:ext cx="8832945" cy="5355312"/>
          </a:xfrm>
          <a:prstGeom prst="rect">
            <a:avLst/>
          </a:prstGeom>
          <a:noFill/>
        </p:spPr>
        <p:txBody>
          <a:bodyPr wrap="square">
            <a:spAutoFit/>
          </a:bodyPr>
          <a:lstStyle/>
          <a:p>
            <a:pPr algn="ctr"/>
            <a:r>
              <a:rPr lang="es-MX" b="1" dirty="0">
                <a:latin typeface="Arial" panose="020B0604020202020204" pitchFamily="34" charset="0"/>
                <a:cs typeface="Arial" panose="020B0604020202020204" pitchFamily="34" charset="0"/>
              </a:rPr>
              <a:t>INTRODUCCIÓN</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En esta actividad se llevó a cabo la implementación del inicio de sesión y el formulario de contacto dentro de la aplicación web </a:t>
            </a:r>
            <a:r>
              <a:rPr lang="es-MX" dirty="0" err="1">
                <a:latin typeface="Arial" panose="020B0604020202020204" pitchFamily="34" charset="0"/>
                <a:cs typeface="Arial" panose="020B0604020202020204" pitchFamily="34" charset="0"/>
              </a:rPr>
              <a:t>Coffee</a:t>
            </a:r>
            <a:r>
              <a:rPr lang="es-MX" dirty="0">
                <a:latin typeface="Arial" panose="020B0604020202020204" pitchFamily="34" charset="0"/>
                <a:cs typeface="Arial" panose="020B0604020202020204" pitchFamily="34" charset="0"/>
              </a:rPr>
              <a:t> Rinconcito BV, utilizando Angular para la parte visual y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como base de datos. Estas funciones permiten que la aplicación tenga un mejor control de los usuarios registrados y también una forma de comunicación entre los clientes y la plataforma.</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El inicio de sesión se realizó con la finalidad de que los usuarios puedan acceder al sistema mediante su correo y contraseña registrados previamente en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De esta manera, se valida que la información ingresada sea correcta antes de permitir el acceso a la aplicación, lo cual ayuda a mejorar la seguridad y organización del sistema.</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Además, se implementó el formulario de contacto para que los usuarios puedan enviar mensajes, dudas o comentarios desde la aplicación. Estos mensajes se almacenan en la tabla </a:t>
            </a:r>
            <a:r>
              <a:rPr lang="es-MX" dirty="0" err="1">
                <a:latin typeface="Arial" panose="020B0604020202020204" pitchFamily="34" charset="0"/>
                <a:cs typeface="Arial" panose="020B0604020202020204" pitchFamily="34" charset="0"/>
              </a:rPr>
              <a:t>mensajes_contacto</a:t>
            </a:r>
            <a:r>
              <a:rPr lang="es-MX" dirty="0">
                <a:latin typeface="Arial" panose="020B0604020202020204" pitchFamily="34" charset="0"/>
                <a:cs typeface="Arial" panose="020B0604020202020204" pitchFamily="34" charset="0"/>
              </a:rPr>
              <a:t> de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permitiendo que la información quede registrada correctamente para su revisión posterior. Con esto, la aplicación continúa avanzando hacia un sistema más completo y funcional.</a:t>
            </a:r>
          </a:p>
        </p:txBody>
      </p:sp>
      <p:sp>
        <p:nvSpPr>
          <p:cNvPr id="4" name="Marcador de número de diapositiva 3">
            <a:extLst>
              <a:ext uri="{FF2B5EF4-FFF2-40B4-BE49-F238E27FC236}">
                <a16:creationId xmlns:a16="http://schemas.microsoft.com/office/drawing/2014/main" id="{C25D3C81-E505-C51C-E0D1-A694BE091E22}"/>
              </a:ext>
            </a:extLst>
          </p:cNvPr>
          <p:cNvSpPr>
            <a:spLocks noGrp="1"/>
          </p:cNvSpPr>
          <p:nvPr>
            <p:ph type="sldNum" sz="quarter" idx="12"/>
          </p:nvPr>
        </p:nvSpPr>
        <p:spPr/>
        <p:txBody>
          <a:bodyPr/>
          <a:lstStyle/>
          <a:p>
            <a:fld id="{E7875DD0-B934-4E78-B489-1FA609A3E309}" type="slidenum">
              <a:rPr lang="es-MX" smtClean="0"/>
              <a:t>3</a:t>
            </a:fld>
            <a:endParaRPr lang="es-MX"/>
          </a:p>
        </p:txBody>
      </p:sp>
    </p:spTree>
    <p:extLst>
      <p:ext uri="{BB962C8B-B14F-4D97-AF65-F5344CB8AC3E}">
        <p14:creationId xmlns:p14="http://schemas.microsoft.com/office/powerpoint/2010/main" val="255402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6B8D9B4-F15D-B6E4-5203-4283E1BDE321}"/>
              </a:ext>
            </a:extLst>
          </p:cNvPr>
          <p:cNvSpPr txBox="1"/>
          <p:nvPr/>
        </p:nvSpPr>
        <p:spPr>
          <a:xfrm>
            <a:off x="1583140" y="559644"/>
            <a:ext cx="9362364" cy="5355312"/>
          </a:xfrm>
          <a:prstGeom prst="rect">
            <a:avLst/>
          </a:prstGeom>
          <a:noFill/>
        </p:spPr>
        <p:txBody>
          <a:bodyPr wrap="square">
            <a:spAutoFit/>
          </a:bodyPr>
          <a:lstStyle/>
          <a:p>
            <a:pPr algn="ctr"/>
            <a:r>
              <a:rPr lang="es-MX" b="1" dirty="0">
                <a:latin typeface="Arial" panose="020B0604020202020204" pitchFamily="34" charset="0"/>
                <a:cs typeface="Arial" panose="020B0604020202020204" pitchFamily="34" charset="0"/>
              </a:rPr>
              <a:t>JUSTIFICACIÓN</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La realización de esta actividad es importante porque permite fortalecer el funcionamiento de la aplicación web, agregando herramientas necesarias para el acceso de usuarios y la comunicación con la plataforma. El inicio de sesión es una parte fundamental, ya que permite identificar a cada usuario registrado y controlar el acceso al sistema de forma más ordenada.</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También es importante contar con un formulario de contacto, porque mediante este apartado los usuarios pueden comunicarse con la plataforma para enviar mensajes, dudas o comentarios. Esto ayuda a mejorar la atención dentro del sistema y permite que la aplicación no solo funcione como una tienda, sino también como un medio de comunicación entre los usuarios y el administrador.</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Por lo tanto, esta práctica se justifica porque permite integrar nuevas funciones conectadas directamente con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haciendo que la aplicación tenga una mejor estructura, mayor utilidad y un funcionamiento más completo. Además, estas implementaciones son necesarias para que el proyecto siga avanzando y pueda utilizarse de manera más real y funcional.</a:t>
            </a:r>
          </a:p>
        </p:txBody>
      </p:sp>
      <p:sp>
        <p:nvSpPr>
          <p:cNvPr id="4" name="Marcador de número de diapositiva 3">
            <a:extLst>
              <a:ext uri="{FF2B5EF4-FFF2-40B4-BE49-F238E27FC236}">
                <a16:creationId xmlns:a16="http://schemas.microsoft.com/office/drawing/2014/main" id="{715AAE15-A0AA-0AA2-71B7-C522ED20AB2A}"/>
              </a:ext>
            </a:extLst>
          </p:cNvPr>
          <p:cNvSpPr>
            <a:spLocks noGrp="1"/>
          </p:cNvSpPr>
          <p:nvPr>
            <p:ph type="sldNum" sz="quarter" idx="12"/>
          </p:nvPr>
        </p:nvSpPr>
        <p:spPr/>
        <p:txBody>
          <a:bodyPr/>
          <a:lstStyle/>
          <a:p>
            <a:fld id="{E7875DD0-B934-4E78-B489-1FA609A3E309}" type="slidenum">
              <a:rPr lang="es-MX" smtClean="0"/>
              <a:t>4</a:t>
            </a:fld>
            <a:endParaRPr lang="es-MX"/>
          </a:p>
        </p:txBody>
      </p:sp>
    </p:spTree>
    <p:extLst>
      <p:ext uri="{BB962C8B-B14F-4D97-AF65-F5344CB8AC3E}">
        <p14:creationId xmlns:p14="http://schemas.microsoft.com/office/powerpoint/2010/main" val="1723147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328CA6-4455-6E22-4BE5-7CC0598A7A3A}"/>
              </a:ext>
            </a:extLst>
          </p:cNvPr>
          <p:cNvSpPr txBox="1"/>
          <p:nvPr/>
        </p:nvSpPr>
        <p:spPr>
          <a:xfrm>
            <a:off x="900750" y="2849942"/>
            <a:ext cx="10699845" cy="830997"/>
          </a:xfrm>
          <a:prstGeom prst="rect">
            <a:avLst/>
          </a:prstGeom>
          <a:noFill/>
        </p:spPr>
        <p:txBody>
          <a:bodyPr wrap="square">
            <a:spAutoFit/>
          </a:bodyPr>
          <a:lstStyle/>
          <a:p>
            <a:pPr algn="ctr"/>
            <a:r>
              <a:rPr lang="es-MX" sz="2400" b="1" dirty="0">
                <a:latin typeface="Arial" panose="020B0604020202020204" pitchFamily="34" charset="0"/>
                <a:cs typeface="Arial" panose="020B0604020202020204" pitchFamily="34" charset="0"/>
              </a:rPr>
              <a:t>DESARROLLO DE FUNCIONES DE AUTENTICACIÓN Y CONTACTO EN UNA APLICACIÓN WEB CON ANGULAR Y SUPABASE</a:t>
            </a:r>
          </a:p>
        </p:txBody>
      </p:sp>
      <p:sp>
        <p:nvSpPr>
          <p:cNvPr id="4" name="CuadroTexto 3">
            <a:extLst>
              <a:ext uri="{FF2B5EF4-FFF2-40B4-BE49-F238E27FC236}">
                <a16:creationId xmlns:a16="http://schemas.microsoft.com/office/drawing/2014/main" id="{C2BBABF3-EBBD-B6D6-5E72-572689111572}"/>
              </a:ext>
            </a:extLst>
          </p:cNvPr>
          <p:cNvSpPr txBox="1"/>
          <p:nvPr/>
        </p:nvSpPr>
        <p:spPr>
          <a:xfrm>
            <a:off x="0" y="4735773"/>
            <a:ext cx="12192000" cy="369332"/>
          </a:xfrm>
          <a:prstGeom prst="rect">
            <a:avLst/>
          </a:prstGeom>
          <a:solidFill>
            <a:schemeClr val="tx2">
              <a:lumMod val="90000"/>
              <a:lumOff val="10000"/>
            </a:schemeClr>
          </a:solidFill>
        </p:spPr>
        <p:txBody>
          <a:bodyPr wrap="square" rtlCol="0">
            <a:spAutoFit/>
          </a:bodyPr>
          <a:lstStyle/>
          <a:p>
            <a:endParaRPr lang="es-MX" dirty="0">
              <a:latin typeface="Arial" panose="020B0604020202020204" pitchFamily="34" charset="0"/>
              <a:cs typeface="Arial" panose="020B0604020202020204" pitchFamily="34" charset="0"/>
            </a:endParaRPr>
          </a:p>
        </p:txBody>
      </p:sp>
      <p:pic>
        <p:nvPicPr>
          <p:cNvPr id="5" name="Picture 2" descr="Cómo hacer un INSERT en Supabase desde un proyecto Angular - Modesto Cabral">
            <a:extLst>
              <a:ext uri="{FF2B5EF4-FFF2-40B4-BE49-F238E27FC236}">
                <a16:creationId xmlns:a16="http://schemas.microsoft.com/office/drawing/2014/main" id="{245D5FE9-ECE1-59AD-3741-12D7CBE0DD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8019" y="887380"/>
            <a:ext cx="3985146" cy="1868037"/>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número de diapositiva 5">
            <a:extLst>
              <a:ext uri="{FF2B5EF4-FFF2-40B4-BE49-F238E27FC236}">
                <a16:creationId xmlns:a16="http://schemas.microsoft.com/office/drawing/2014/main" id="{AE5032AE-96CE-8607-3971-6F1F3E7EC280}"/>
              </a:ext>
            </a:extLst>
          </p:cNvPr>
          <p:cNvSpPr>
            <a:spLocks noGrp="1"/>
          </p:cNvSpPr>
          <p:nvPr>
            <p:ph type="sldNum" sz="quarter" idx="12"/>
          </p:nvPr>
        </p:nvSpPr>
        <p:spPr/>
        <p:txBody>
          <a:bodyPr/>
          <a:lstStyle/>
          <a:p>
            <a:fld id="{E7875DD0-B934-4E78-B489-1FA609A3E309}" type="slidenum">
              <a:rPr lang="es-MX" smtClean="0"/>
              <a:t>5</a:t>
            </a:fld>
            <a:endParaRPr lang="es-MX"/>
          </a:p>
        </p:txBody>
      </p:sp>
    </p:spTree>
    <p:extLst>
      <p:ext uri="{BB962C8B-B14F-4D97-AF65-F5344CB8AC3E}">
        <p14:creationId xmlns:p14="http://schemas.microsoft.com/office/powerpoint/2010/main" val="359394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49827B4-F75B-73C2-ED96-2F8CE9912C03}"/>
              </a:ext>
            </a:extLst>
          </p:cNvPr>
          <p:cNvPicPr>
            <a:picLocks noChangeAspect="1"/>
          </p:cNvPicPr>
          <p:nvPr/>
        </p:nvPicPr>
        <p:blipFill>
          <a:blip r:embed="rId2"/>
          <a:srcRect b="3460"/>
          <a:stretch/>
        </p:blipFill>
        <p:spPr>
          <a:xfrm>
            <a:off x="2788693" y="2690284"/>
            <a:ext cx="6821607" cy="3702586"/>
          </a:xfrm>
          <a:prstGeom prst="rect">
            <a:avLst/>
          </a:prstGeom>
        </p:spPr>
      </p:pic>
      <p:sp>
        <p:nvSpPr>
          <p:cNvPr id="8" name="CuadroTexto 7">
            <a:extLst>
              <a:ext uri="{FF2B5EF4-FFF2-40B4-BE49-F238E27FC236}">
                <a16:creationId xmlns:a16="http://schemas.microsoft.com/office/drawing/2014/main" id="{8B7D3544-A229-F2B7-41C6-63B3481089A9}"/>
              </a:ext>
            </a:extLst>
          </p:cNvPr>
          <p:cNvSpPr txBox="1"/>
          <p:nvPr/>
        </p:nvSpPr>
        <p:spPr>
          <a:xfrm>
            <a:off x="999696" y="336309"/>
            <a:ext cx="10423479" cy="369332"/>
          </a:xfrm>
          <a:prstGeom prst="rect">
            <a:avLst/>
          </a:prstGeom>
          <a:solidFill>
            <a:schemeClr val="tx2">
              <a:lumMod val="10000"/>
              <a:lumOff val="90000"/>
            </a:schemeClr>
          </a:solidFill>
        </p:spPr>
        <p:txBody>
          <a:bodyPr wrap="square">
            <a:spAutoFit/>
          </a:bodyPr>
          <a:lstStyle/>
          <a:p>
            <a:pPr algn="ctr"/>
            <a:r>
              <a:rPr lang="es-MX" b="1" dirty="0">
                <a:latin typeface="Arial" panose="020B0604020202020204" pitchFamily="34" charset="0"/>
                <a:cs typeface="Arial" panose="020B0604020202020204" pitchFamily="34" charset="0"/>
              </a:rPr>
              <a:t>IMPLEMENTACIÓN DEL INICIO DE SESIÓN CON VALIDACIÓN DE USUARIOS EN SUPABASE</a:t>
            </a:r>
          </a:p>
        </p:txBody>
      </p:sp>
      <p:cxnSp>
        <p:nvCxnSpPr>
          <p:cNvPr id="9" name="Conector recto de flecha 8">
            <a:extLst>
              <a:ext uri="{FF2B5EF4-FFF2-40B4-BE49-F238E27FC236}">
                <a16:creationId xmlns:a16="http://schemas.microsoft.com/office/drawing/2014/main" id="{A42E7D82-61A3-519F-6A2C-F3539DDF3D1D}"/>
              </a:ext>
            </a:extLst>
          </p:cNvPr>
          <p:cNvCxnSpPr>
            <a:cxnSpLocks/>
          </p:cNvCxnSpPr>
          <p:nvPr/>
        </p:nvCxnSpPr>
        <p:spPr>
          <a:xfrm flipH="1" flipV="1">
            <a:off x="8409294" y="5186149"/>
            <a:ext cx="994013" cy="286603"/>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041E8755-9606-9FD2-A135-B2A50E411065}"/>
              </a:ext>
            </a:extLst>
          </p:cNvPr>
          <p:cNvSpPr txBox="1"/>
          <p:nvPr/>
        </p:nvSpPr>
        <p:spPr>
          <a:xfrm>
            <a:off x="1491018" y="980687"/>
            <a:ext cx="8772098" cy="1415772"/>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1: Acceso al proyecto en Visual Studio </a:t>
            </a:r>
            <a:r>
              <a:rPr lang="es-MX" b="1" dirty="0" err="1">
                <a:latin typeface="Arial" panose="020B0604020202020204" pitchFamily="34" charset="0"/>
                <a:cs typeface="Arial" panose="020B0604020202020204" pitchFamily="34" charset="0"/>
              </a:rPr>
              <a:t>Code</a:t>
            </a:r>
            <a:endParaRPr lang="es-MX" b="1" dirty="0">
              <a:latin typeface="Arial" panose="020B0604020202020204" pitchFamily="34" charset="0"/>
              <a:cs typeface="Arial" panose="020B0604020202020204" pitchFamily="34" charset="0"/>
            </a:endParaRPr>
          </a:p>
          <a:p>
            <a:pPr algn="just"/>
            <a:endParaRPr lang="es-MX" sz="110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Para comenzar, se abrió el proyecto de la aplicación web en Visual Studio </a:t>
            </a:r>
            <a:r>
              <a:rPr lang="es-MX" dirty="0" err="1">
                <a:latin typeface="Arial" panose="020B0604020202020204" pitchFamily="34" charset="0"/>
                <a:cs typeface="Arial" panose="020B0604020202020204" pitchFamily="34" charset="0"/>
              </a:rPr>
              <a:t>Code</a:t>
            </a:r>
            <a:r>
              <a:rPr lang="es-MX" dirty="0">
                <a:latin typeface="Arial" panose="020B0604020202020204" pitchFamily="34" charset="0"/>
                <a:cs typeface="Arial" panose="020B0604020202020204" pitchFamily="34" charset="0"/>
              </a:rPr>
              <a:t>, con el propósito de realizar las modificaciones necesarias en los archivos correspondientes al inicio de sesión.</a:t>
            </a:r>
          </a:p>
        </p:txBody>
      </p:sp>
      <p:sp>
        <p:nvSpPr>
          <p:cNvPr id="13" name="Marcador de número de diapositiva 12">
            <a:extLst>
              <a:ext uri="{FF2B5EF4-FFF2-40B4-BE49-F238E27FC236}">
                <a16:creationId xmlns:a16="http://schemas.microsoft.com/office/drawing/2014/main" id="{90D10D40-A7FD-9B7C-352B-818C5BA9DA67}"/>
              </a:ext>
            </a:extLst>
          </p:cNvPr>
          <p:cNvSpPr>
            <a:spLocks noGrp="1"/>
          </p:cNvSpPr>
          <p:nvPr>
            <p:ph type="sldNum" sz="quarter" idx="12"/>
          </p:nvPr>
        </p:nvSpPr>
        <p:spPr/>
        <p:txBody>
          <a:bodyPr/>
          <a:lstStyle/>
          <a:p>
            <a:fld id="{E7875DD0-B934-4E78-B489-1FA609A3E309}" type="slidenum">
              <a:rPr lang="es-MX" smtClean="0"/>
              <a:t>6</a:t>
            </a:fld>
            <a:endParaRPr lang="es-MX"/>
          </a:p>
        </p:txBody>
      </p:sp>
    </p:spTree>
    <p:extLst>
      <p:ext uri="{BB962C8B-B14F-4D97-AF65-F5344CB8AC3E}">
        <p14:creationId xmlns:p14="http://schemas.microsoft.com/office/powerpoint/2010/main" val="1700000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4D93485-4DE7-F55A-18FB-2E05B8D2FAE5}"/>
              </a:ext>
            </a:extLst>
          </p:cNvPr>
          <p:cNvPicPr>
            <a:picLocks noChangeAspect="1"/>
          </p:cNvPicPr>
          <p:nvPr/>
        </p:nvPicPr>
        <p:blipFill>
          <a:blip r:embed="rId2"/>
          <a:srcRect b="3217"/>
          <a:stretch/>
        </p:blipFill>
        <p:spPr>
          <a:xfrm>
            <a:off x="2317276" y="2424735"/>
            <a:ext cx="7597254" cy="4133939"/>
          </a:xfrm>
          <a:prstGeom prst="rect">
            <a:avLst/>
          </a:prstGeom>
        </p:spPr>
      </p:pic>
      <p:cxnSp>
        <p:nvCxnSpPr>
          <p:cNvPr id="5" name="Conector recto de flecha 4">
            <a:extLst>
              <a:ext uri="{FF2B5EF4-FFF2-40B4-BE49-F238E27FC236}">
                <a16:creationId xmlns:a16="http://schemas.microsoft.com/office/drawing/2014/main" id="{10A44C0B-5C07-3185-8B25-732344400E78}"/>
              </a:ext>
            </a:extLst>
          </p:cNvPr>
          <p:cNvCxnSpPr/>
          <p:nvPr/>
        </p:nvCxnSpPr>
        <p:spPr>
          <a:xfrm flipH="1" flipV="1">
            <a:off x="8570793" y="4259692"/>
            <a:ext cx="1132765" cy="464024"/>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9" name="CuadroTexto 8">
            <a:extLst>
              <a:ext uri="{FF2B5EF4-FFF2-40B4-BE49-F238E27FC236}">
                <a16:creationId xmlns:a16="http://schemas.microsoft.com/office/drawing/2014/main" id="{64084400-9F2E-4C4D-3408-740F764E44BB}"/>
              </a:ext>
            </a:extLst>
          </p:cNvPr>
          <p:cNvSpPr txBox="1"/>
          <p:nvPr/>
        </p:nvSpPr>
        <p:spPr>
          <a:xfrm>
            <a:off x="1299949" y="217438"/>
            <a:ext cx="9631908" cy="2031325"/>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2: Modificación del archivo </a:t>
            </a:r>
            <a:r>
              <a:rPr lang="es-MX" b="1" dirty="0" err="1">
                <a:latin typeface="Arial" panose="020B0604020202020204" pitchFamily="34" charset="0"/>
                <a:cs typeface="Arial" panose="020B0604020202020204" pitchFamily="34" charset="0"/>
              </a:rPr>
              <a:t>login.ts</a:t>
            </a:r>
            <a:endParaRPr lang="es-MX" b="1"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Se abrió el archivo </a:t>
            </a:r>
            <a:r>
              <a:rPr lang="es-MX" dirty="0" err="1">
                <a:latin typeface="Arial" panose="020B0604020202020204" pitchFamily="34" charset="0"/>
                <a:cs typeface="Arial" panose="020B0604020202020204" pitchFamily="34" charset="0"/>
              </a:rPr>
              <a:t>login.ts</a:t>
            </a:r>
            <a:r>
              <a:rPr lang="es-MX" dirty="0">
                <a:latin typeface="Arial" panose="020B0604020202020204" pitchFamily="34" charset="0"/>
                <a:cs typeface="Arial" panose="020B0604020202020204" pitchFamily="34" charset="0"/>
              </a:rPr>
              <a:t> y se agregó la lógica necesaria para validar el inicio de sesión de los usuarios. Este código permite verificar que el correo y la contraseña estén completos, además de buscar al usuario en la tabla usuarios de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Si los datos ingresados son correctos y el usuario se encuentra activo, se guarda la sesión y se redirige al usuario según su rol dentro de la aplicación.</a:t>
            </a:r>
          </a:p>
        </p:txBody>
      </p:sp>
      <p:sp>
        <p:nvSpPr>
          <p:cNvPr id="10" name="Marcador de número de diapositiva 9">
            <a:extLst>
              <a:ext uri="{FF2B5EF4-FFF2-40B4-BE49-F238E27FC236}">
                <a16:creationId xmlns:a16="http://schemas.microsoft.com/office/drawing/2014/main" id="{13AF0130-37B9-BB2F-EEF2-70FFA9547338}"/>
              </a:ext>
            </a:extLst>
          </p:cNvPr>
          <p:cNvSpPr>
            <a:spLocks noGrp="1"/>
          </p:cNvSpPr>
          <p:nvPr>
            <p:ph type="sldNum" sz="quarter" idx="12"/>
          </p:nvPr>
        </p:nvSpPr>
        <p:spPr/>
        <p:txBody>
          <a:bodyPr/>
          <a:lstStyle/>
          <a:p>
            <a:fld id="{E7875DD0-B934-4E78-B489-1FA609A3E309}" type="slidenum">
              <a:rPr lang="es-MX" smtClean="0"/>
              <a:t>7</a:t>
            </a:fld>
            <a:endParaRPr lang="es-MX"/>
          </a:p>
        </p:txBody>
      </p:sp>
    </p:spTree>
    <p:extLst>
      <p:ext uri="{BB962C8B-B14F-4D97-AF65-F5344CB8AC3E}">
        <p14:creationId xmlns:p14="http://schemas.microsoft.com/office/powerpoint/2010/main" val="4266762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19022E9-7AA0-9BD9-B2A5-BC2C21352E9F}"/>
              </a:ext>
            </a:extLst>
          </p:cNvPr>
          <p:cNvPicPr>
            <a:picLocks noChangeAspect="1"/>
          </p:cNvPicPr>
          <p:nvPr/>
        </p:nvPicPr>
        <p:blipFill>
          <a:blip r:embed="rId2"/>
          <a:srcRect b="3166"/>
          <a:stretch/>
        </p:blipFill>
        <p:spPr>
          <a:xfrm>
            <a:off x="1660477" y="1325507"/>
            <a:ext cx="8871045" cy="4829634"/>
          </a:xfrm>
          <a:prstGeom prst="rect">
            <a:avLst/>
          </a:prstGeom>
        </p:spPr>
      </p:pic>
      <p:cxnSp>
        <p:nvCxnSpPr>
          <p:cNvPr id="6" name="Conector recto de flecha 5">
            <a:extLst>
              <a:ext uri="{FF2B5EF4-FFF2-40B4-BE49-F238E27FC236}">
                <a16:creationId xmlns:a16="http://schemas.microsoft.com/office/drawing/2014/main" id="{4BF09E99-A776-2F4E-0397-E2DF368FAE22}"/>
              </a:ext>
            </a:extLst>
          </p:cNvPr>
          <p:cNvCxnSpPr/>
          <p:nvPr/>
        </p:nvCxnSpPr>
        <p:spPr>
          <a:xfrm flipH="1" flipV="1">
            <a:off x="8761862" y="4380931"/>
            <a:ext cx="1132765" cy="464024"/>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7" name="Marcador de número de diapositiva 6">
            <a:extLst>
              <a:ext uri="{FF2B5EF4-FFF2-40B4-BE49-F238E27FC236}">
                <a16:creationId xmlns:a16="http://schemas.microsoft.com/office/drawing/2014/main" id="{BE7E7748-CF1E-911E-C0A9-2D7202717A54}"/>
              </a:ext>
            </a:extLst>
          </p:cNvPr>
          <p:cNvSpPr>
            <a:spLocks noGrp="1"/>
          </p:cNvSpPr>
          <p:nvPr>
            <p:ph type="sldNum" sz="quarter" idx="12"/>
          </p:nvPr>
        </p:nvSpPr>
        <p:spPr/>
        <p:txBody>
          <a:bodyPr/>
          <a:lstStyle/>
          <a:p>
            <a:fld id="{E7875DD0-B934-4E78-B489-1FA609A3E309}" type="slidenum">
              <a:rPr lang="es-MX" smtClean="0"/>
              <a:t>8</a:t>
            </a:fld>
            <a:endParaRPr lang="es-MX"/>
          </a:p>
        </p:txBody>
      </p:sp>
    </p:spTree>
    <p:extLst>
      <p:ext uri="{BB962C8B-B14F-4D97-AF65-F5344CB8AC3E}">
        <p14:creationId xmlns:p14="http://schemas.microsoft.com/office/powerpoint/2010/main" val="98748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A2D0409-3A36-D2D6-F62F-A651FC10A1EB}"/>
              </a:ext>
            </a:extLst>
          </p:cNvPr>
          <p:cNvPicPr>
            <a:picLocks noChangeAspect="1"/>
          </p:cNvPicPr>
          <p:nvPr/>
        </p:nvPicPr>
        <p:blipFill>
          <a:blip r:embed="rId2"/>
          <a:srcRect b="3460"/>
          <a:stretch/>
        </p:blipFill>
        <p:spPr>
          <a:xfrm>
            <a:off x="2465695" y="2470275"/>
            <a:ext cx="7260609" cy="3940864"/>
          </a:xfrm>
          <a:prstGeom prst="rect">
            <a:avLst/>
          </a:prstGeom>
        </p:spPr>
      </p:pic>
      <p:cxnSp>
        <p:nvCxnSpPr>
          <p:cNvPr id="6" name="Conector recto de flecha 5">
            <a:extLst>
              <a:ext uri="{FF2B5EF4-FFF2-40B4-BE49-F238E27FC236}">
                <a16:creationId xmlns:a16="http://schemas.microsoft.com/office/drawing/2014/main" id="{9F5ED141-D684-4192-B573-544C06510B4C}"/>
              </a:ext>
            </a:extLst>
          </p:cNvPr>
          <p:cNvCxnSpPr>
            <a:cxnSpLocks/>
          </p:cNvCxnSpPr>
          <p:nvPr/>
        </p:nvCxnSpPr>
        <p:spPr>
          <a:xfrm flipH="1" flipV="1">
            <a:off x="8488907" y="4440707"/>
            <a:ext cx="1091822" cy="232012"/>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9" name="CuadroTexto 8">
            <a:extLst>
              <a:ext uri="{FF2B5EF4-FFF2-40B4-BE49-F238E27FC236}">
                <a16:creationId xmlns:a16="http://schemas.microsoft.com/office/drawing/2014/main" id="{1A24A92C-5F7B-D702-946C-90BA28BC4ECF}"/>
              </a:ext>
            </a:extLst>
          </p:cNvPr>
          <p:cNvSpPr txBox="1"/>
          <p:nvPr/>
        </p:nvSpPr>
        <p:spPr>
          <a:xfrm>
            <a:off x="1286300" y="296736"/>
            <a:ext cx="10300648" cy="1938992"/>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3: Modificación del archivo login.html</a:t>
            </a:r>
          </a:p>
          <a:p>
            <a:pPr algn="just"/>
            <a:endParaRPr lang="es-MX" sz="105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Después se abrió el archivo login.html, donde se conectaron los campos del formulario con la lógica del componente. Este código muestra la interfaz del inicio de sesión, incluyendo los campos de correo electrónico y contraseña, el botón para iniciar sesión, la opción para registrarse, recuperar contraseña y regresar al inicio. Con esta conexión, el usuario puede ingresar sus datos y acceder a la aplicación si estos coinciden con los registros guardados en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a:t>
            </a:r>
          </a:p>
        </p:txBody>
      </p:sp>
      <p:sp>
        <p:nvSpPr>
          <p:cNvPr id="10" name="Marcador de número de diapositiva 9">
            <a:extLst>
              <a:ext uri="{FF2B5EF4-FFF2-40B4-BE49-F238E27FC236}">
                <a16:creationId xmlns:a16="http://schemas.microsoft.com/office/drawing/2014/main" id="{61C7174A-D751-D7B0-F864-0573681CF4B0}"/>
              </a:ext>
            </a:extLst>
          </p:cNvPr>
          <p:cNvSpPr>
            <a:spLocks noGrp="1"/>
          </p:cNvSpPr>
          <p:nvPr>
            <p:ph type="sldNum" sz="quarter" idx="12"/>
          </p:nvPr>
        </p:nvSpPr>
        <p:spPr/>
        <p:txBody>
          <a:bodyPr/>
          <a:lstStyle/>
          <a:p>
            <a:fld id="{E7875DD0-B934-4E78-B489-1FA609A3E309}" type="slidenum">
              <a:rPr lang="es-MX" smtClean="0"/>
              <a:t>9</a:t>
            </a:fld>
            <a:endParaRPr lang="es-MX"/>
          </a:p>
        </p:txBody>
      </p:sp>
    </p:spTree>
    <p:extLst>
      <p:ext uri="{BB962C8B-B14F-4D97-AF65-F5344CB8AC3E}">
        <p14:creationId xmlns:p14="http://schemas.microsoft.com/office/powerpoint/2010/main" val="3893539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9007C00-8DA2-ED97-F046-3F06A7C6F73B}"/>
              </a:ext>
            </a:extLst>
          </p:cNvPr>
          <p:cNvPicPr>
            <a:picLocks noChangeAspect="1"/>
          </p:cNvPicPr>
          <p:nvPr/>
        </p:nvPicPr>
        <p:blipFill>
          <a:blip r:embed="rId2"/>
          <a:srcRect b="4088"/>
          <a:stretch/>
        </p:blipFill>
        <p:spPr>
          <a:xfrm>
            <a:off x="1872017" y="1584813"/>
            <a:ext cx="8447965" cy="4555469"/>
          </a:xfrm>
          <a:prstGeom prst="rect">
            <a:avLst/>
          </a:prstGeom>
        </p:spPr>
      </p:pic>
      <p:cxnSp>
        <p:nvCxnSpPr>
          <p:cNvPr id="4" name="Conector recto de flecha 3">
            <a:extLst>
              <a:ext uri="{FF2B5EF4-FFF2-40B4-BE49-F238E27FC236}">
                <a16:creationId xmlns:a16="http://schemas.microsoft.com/office/drawing/2014/main" id="{297E9784-C92B-D992-063E-90E2FB793D0B}"/>
              </a:ext>
            </a:extLst>
          </p:cNvPr>
          <p:cNvCxnSpPr/>
          <p:nvPr/>
        </p:nvCxnSpPr>
        <p:spPr>
          <a:xfrm flipH="1" flipV="1">
            <a:off x="8611737" y="4476465"/>
            <a:ext cx="1132765" cy="464024"/>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5" name="Marcador de número de diapositiva 4">
            <a:extLst>
              <a:ext uri="{FF2B5EF4-FFF2-40B4-BE49-F238E27FC236}">
                <a16:creationId xmlns:a16="http://schemas.microsoft.com/office/drawing/2014/main" id="{6727CAC5-F6BC-9DF7-70A3-A2E93663A5DC}"/>
              </a:ext>
            </a:extLst>
          </p:cNvPr>
          <p:cNvSpPr>
            <a:spLocks noGrp="1"/>
          </p:cNvSpPr>
          <p:nvPr>
            <p:ph type="sldNum" sz="quarter" idx="12"/>
          </p:nvPr>
        </p:nvSpPr>
        <p:spPr/>
        <p:txBody>
          <a:bodyPr/>
          <a:lstStyle/>
          <a:p>
            <a:fld id="{E7875DD0-B934-4E78-B489-1FA609A3E309}" type="slidenum">
              <a:rPr lang="es-MX" smtClean="0"/>
              <a:t>10</a:t>
            </a:fld>
            <a:endParaRPr lang="es-MX"/>
          </a:p>
        </p:txBody>
      </p:sp>
    </p:spTree>
    <p:extLst>
      <p:ext uri="{BB962C8B-B14F-4D97-AF65-F5344CB8AC3E}">
        <p14:creationId xmlns:p14="http://schemas.microsoft.com/office/powerpoint/2010/main" val="3877494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F8C476B-E2C3-09B8-EA2C-38A6D98E155D}"/>
              </a:ext>
            </a:extLst>
          </p:cNvPr>
          <p:cNvPicPr>
            <a:picLocks noChangeAspect="1"/>
          </p:cNvPicPr>
          <p:nvPr/>
        </p:nvPicPr>
        <p:blipFill>
          <a:blip r:embed="rId2"/>
          <a:srcRect b="3217"/>
          <a:stretch/>
        </p:blipFill>
        <p:spPr>
          <a:xfrm>
            <a:off x="2448181" y="2440551"/>
            <a:ext cx="7295638" cy="3969826"/>
          </a:xfrm>
          <a:prstGeom prst="rect">
            <a:avLst/>
          </a:prstGeom>
        </p:spPr>
      </p:pic>
      <p:sp>
        <p:nvSpPr>
          <p:cNvPr id="7" name="CuadroTexto 6">
            <a:extLst>
              <a:ext uri="{FF2B5EF4-FFF2-40B4-BE49-F238E27FC236}">
                <a16:creationId xmlns:a16="http://schemas.microsoft.com/office/drawing/2014/main" id="{1FD2F1EF-A829-63C0-15F8-398A19A4BC86}"/>
              </a:ext>
            </a:extLst>
          </p:cNvPr>
          <p:cNvSpPr txBox="1"/>
          <p:nvPr/>
        </p:nvSpPr>
        <p:spPr>
          <a:xfrm>
            <a:off x="841042" y="447623"/>
            <a:ext cx="10718612" cy="369332"/>
          </a:xfrm>
          <a:prstGeom prst="rect">
            <a:avLst/>
          </a:prstGeom>
          <a:solidFill>
            <a:schemeClr val="tx2">
              <a:lumMod val="10000"/>
              <a:lumOff val="90000"/>
            </a:schemeClr>
          </a:solidFill>
        </p:spPr>
        <p:txBody>
          <a:bodyPr wrap="square">
            <a:spAutoFit/>
          </a:bodyPr>
          <a:lstStyle/>
          <a:p>
            <a:r>
              <a:rPr lang="es-MX" b="1" dirty="0">
                <a:latin typeface="Arial" panose="020B0604020202020204" pitchFamily="34" charset="0"/>
                <a:cs typeface="Arial" panose="020B0604020202020204" pitchFamily="34" charset="0"/>
              </a:rPr>
              <a:t>IMPLEMENTACIÓN DEL FORMULARIO DE CONTACTO CON ALMACENAMIENTO EN SUPABASE</a:t>
            </a:r>
          </a:p>
        </p:txBody>
      </p:sp>
      <p:sp>
        <p:nvSpPr>
          <p:cNvPr id="9" name="CuadroTexto 8">
            <a:extLst>
              <a:ext uri="{FF2B5EF4-FFF2-40B4-BE49-F238E27FC236}">
                <a16:creationId xmlns:a16="http://schemas.microsoft.com/office/drawing/2014/main" id="{67C9AFF2-B9BA-B5BF-6523-7C93485E1733}"/>
              </a:ext>
            </a:extLst>
          </p:cNvPr>
          <p:cNvSpPr txBox="1"/>
          <p:nvPr/>
        </p:nvSpPr>
        <p:spPr>
          <a:xfrm>
            <a:off x="1553282" y="988950"/>
            <a:ext cx="9085431" cy="1092607"/>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4: Acceso a </a:t>
            </a:r>
            <a:r>
              <a:rPr lang="es-MX" b="1" dirty="0" err="1">
                <a:latin typeface="Arial" panose="020B0604020202020204" pitchFamily="34" charset="0"/>
                <a:cs typeface="Arial" panose="020B0604020202020204" pitchFamily="34" charset="0"/>
              </a:rPr>
              <a:t>Supabase</a:t>
            </a:r>
            <a:endParaRPr lang="es-MX" b="1" dirty="0">
              <a:latin typeface="Arial" panose="020B0604020202020204" pitchFamily="34" charset="0"/>
              <a:cs typeface="Arial" panose="020B0604020202020204" pitchFamily="34" charset="0"/>
            </a:endParaRPr>
          </a:p>
          <a:p>
            <a:pPr algn="just"/>
            <a:endParaRPr lang="es-MX" sz="105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Posteriormente, se ingresó a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para crear la base de datos que permitirá almacenar los mensajes enviados desde el formulario de contacto de la aplicación web.</a:t>
            </a:r>
          </a:p>
        </p:txBody>
      </p:sp>
      <p:cxnSp>
        <p:nvCxnSpPr>
          <p:cNvPr id="11" name="Conector recto de flecha 10">
            <a:extLst>
              <a:ext uri="{FF2B5EF4-FFF2-40B4-BE49-F238E27FC236}">
                <a16:creationId xmlns:a16="http://schemas.microsoft.com/office/drawing/2014/main" id="{2C351ACD-E038-E337-FB16-2B47134EA65E}"/>
              </a:ext>
            </a:extLst>
          </p:cNvPr>
          <p:cNvCxnSpPr/>
          <p:nvPr/>
        </p:nvCxnSpPr>
        <p:spPr>
          <a:xfrm flipH="1">
            <a:off x="6646460" y="3589361"/>
            <a:ext cx="1351128" cy="836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Marcador de número de diapositiva 11">
            <a:extLst>
              <a:ext uri="{FF2B5EF4-FFF2-40B4-BE49-F238E27FC236}">
                <a16:creationId xmlns:a16="http://schemas.microsoft.com/office/drawing/2014/main" id="{A1536695-135D-0B4E-18A7-A582379AD934}"/>
              </a:ext>
            </a:extLst>
          </p:cNvPr>
          <p:cNvSpPr>
            <a:spLocks noGrp="1"/>
          </p:cNvSpPr>
          <p:nvPr>
            <p:ph type="sldNum" sz="quarter" idx="12"/>
          </p:nvPr>
        </p:nvSpPr>
        <p:spPr/>
        <p:txBody>
          <a:bodyPr/>
          <a:lstStyle/>
          <a:p>
            <a:fld id="{E7875DD0-B934-4E78-B489-1FA609A3E309}" type="slidenum">
              <a:rPr lang="es-MX" smtClean="0"/>
              <a:t>11</a:t>
            </a:fld>
            <a:endParaRPr lang="es-MX"/>
          </a:p>
        </p:txBody>
      </p:sp>
    </p:spTree>
    <p:extLst>
      <p:ext uri="{BB962C8B-B14F-4D97-AF65-F5344CB8AC3E}">
        <p14:creationId xmlns:p14="http://schemas.microsoft.com/office/powerpoint/2010/main" val="1010105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C02E6A4-9DC3-2446-EC11-15DBEA2C5638}"/>
              </a:ext>
            </a:extLst>
          </p:cNvPr>
          <p:cNvPicPr>
            <a:picLocks noChangeAspect="1"/>
          </p:cNvPicPr>
          <p:nvPr/>
        </p:nvPicPr>
        <p:blipFill>
          <a:blip r:embed="rId2"/>
          <a:srcRect b="3460"/>
          <a:stretch/>
        </p:blipFill>
        <p:spPr>
          <a:xfrm>
            <a:off x="2281450" y="2213453"/>
            <a:ext cx="7629099" cy="4140870"/>
          </a:xfrm>
          <a:prstGeom prst="rect">
            <a:avLst/>
          </a:prstGeom>
        </p:spPr>
      </p:pic>
      <p:cxnSp>
        <p:nvCxnSpPr>
          <p:cNvPr id="4" name="Conector recto de flecha 3">
            <a:extLst>
              <a:ext uri="{FF2B5EF4-FFF2-40B4-BE49-F238E27FC236}">
                <a16:creationId xmlns:a16="http://schemas.microsoft.com/office/drawing/2014/main" id="{776B47BE-96B5-6A73-E35C-3620A0D4C6F4}"/>
              </a:ext>
            </a:extLst>
          </p:cNvPr>
          <p:cNvCxnSpPr/>
          <p:nvPr/>
        </p:nvCxnSpPr>
        <p:spPr>
          <a:xfrm flipH="1" flipV="1">
            <a:off x="3889612" y="3643952"/>
            <a:ext cx="2511188" cy="6399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9309E09A-1728-1AA4-8B4D-3E6E366F9D8F}"/>
              </a:ext>
            </a:extLst>
          </p:cNvPr>
          <p:cNvSpPr txBox="1"/>
          <p:nvPr/>
        </p:nvSpPr>
        <p:spPr>
          <a:xfrm>
            <a:off x="1768522" y="503677"/>
            <a:ext cx="8964306" cy="1354217"/>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5: Acceso al editor de tablas</a:t>
            </a:r>
          </a:p>
          <a:p>
            <a:pPr algn="just"/>
            <a:endParaRPr lang="es-MX" sz="70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Dentro de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se seleccionó la opción de editor de tablas, donde se pueden administrar las tablas existentes y crear nuevas tablas para guardar información del sistema.</a:t>
            </a:r>
          </a:p>
        </p:txBody>
      </p:sp>
      <p:sp>
        <p:nvSpPr>
          <p:cNvPr id="8" name="Marcador de número de diapositiva 7">
            <a:extLst>
              <a:ext uri="{FF2B5EF4-FFF2-40B4-BE49-F238E27FC236}">
                <a16:creationId xmlns:a16="http://schemas.microsoft.com/office/drawing/2014/main" id="{C2EF5BB1-48D2-C117-B8A9-F7AF9E933011}"/>
              </a:ext>
            </a:extLst>
          </p:cNvPr>
          <p:cNvSpPr>
            <a:spLocks noGrp="1"/>
          </p:cNvSpPr>
          <p:nvPr>
            <p:ph type="sldNum" sz="quarter" idx="12"/>
          </p:nvPr>
        </p:nvSpPr>
        <p:spPr/>
        <p:txBody>
          <a:bodyPr/>
          <a:lstStyle/>
          <a:p>
            <a:fld id="{E7875DD0-B934-4E78-B489-1FA609A3E309}" type="slidenum">
              <a:rPr lang="es-MX" smtClean="0"/>
              <a:t>12</a:t>
            </a:fld>
            <a:endParaRPr lang="es-MX"/>
          </a:p>
        </p:txBody>
      </p:sp>
    </p:spTree>
    <p:extLst>
      <p:ext uri="{BB962C8B-B14F-4D97-AF65-F5344CB8AC3E}">
        <p14:creationId xmlns:p14="http://schemas.microsoft.com/office/powerpoint/2010/main" val="4070794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84D09A2-4B34-5341-C6BD-291F5631D2D3}"/>
              </a:ext>
            </a:extLst>
          </p:cNvPr>
          <p:cNvPicPr>
            <a:picLocks noChangeAspect="1"/>
          </p:cNvPicPr>
          <p:nvPr/>
        </p:nvPicPr>
        <p:blipFill>
          <a:blip r:embed="rId2"/>
          <a:srcRect b="3605"/>
          <a:stretch/>
        </p:blipFill>
        <p:spPr>
          <a:xfrm>
            <a:off x="2012950" y="1984797"/>
            <a:ext cx="8166100" cy="4425678"/>
          </a:xfrm>
          <a:prstGeom prst="rect">
            <a:avLst/>
          </a:prstGeom>
        </p:spPr>
      </p:pic>
      <p:cxnSp>
        <p:nvCxnSpPr>
          <p:cNvPr id="5" name="Conector recto de flecha 4">
            <a:extLst>
              <a:ext uri="{FF2B5EF4-FFF2-40B4-BE49-F238E27FC236}">
                <a16:creationId xmlns:a16="http://schemas.microsoft.com/office/drawing/2014/main" id="{1FF4FE67-38BF-B18B-C35B-68E670CC9DFB}"/>
              </a:ext>
            </a:extLst>
          </p:cNvPr>
          <p:cNvCxnSpPr/>
          <p:nvPr/>
        </p:nvCxnSpPr>
        <p:spPr>
          <a:xfrm flipH="1" flipV="1">
            <a:off x="3667458" y="3674658"/>
            <a:ext cx="1587500" cy="13462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 name="CuadroTexto 7">
            <a:extLst>
              <a:ext uri="{FF2B5EF4-FFF2-40B4-BE49-F238E27FC236}">
                <a16:creationId xmlns:a16="http://schemas.microsoft.com/office/drawing/2014/main" id="{EEE90D3E-C299-BEAB-594D-94D6A5764E4F}"/>
              </a:ext>
            </a:extLst>
          </p:cNvPr>
          <p:cNvSpPr txBox="1"/>
          <p:nvPr/>
        </p:nvSpPr>
        <p:spPr>
          <a:xfrm>
            <a:off x="1828800" y="288177"/>
            <a:ext cx="9498842" cy="1477328"/>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6: Creación de la tabla </a:t>
            </a:r>
            <a:r>
              <a:rPr lang="es-MX" b="1" dirty="0" err="1">
                <a:latin typeface="Arial" panose="020B0604020202020204" pitchFamily="34" charset="0"/>
                <a:cs typeface="Arial" panose="020B0604020202020204" pitchFamily="34" charset="0"/>
              </a:rPr>
              <a:t>mensajes_contacto</a:t>
            </a:r>
            <a:endParaRPr lang="es-MX" b="1"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Se dio clic en la opción de nueva tabla para crear una tabla llamada </a:t>
            </a:r>
            <a:r>
              <a:rPr lang="es-MX" dirty="0" err="1">
                <a:latin typeface="Arial" panose="020B0604020202020204" pitchFamily="34" charset="0"/>
                <a:cs typeface="Arial" panose="020B0604020202020204" pitchFamily="34" charset="0"/>
              </a:rPr>
              <a:t>mensajes_contacto</a:t>
            </a:r>
            <a:r>
              <a:rPr lang="es-MX" dirty="0">
                <a:latin typeface="Arial" panose="020B0604020202020204" pitchFamily="34" charset="0"/>
                <a:cs typeface="Arial" panose="020B0604020202020204" pitchFamily="34" charset="0"/>
              </a:rPr>
              <a:t>. Esta tabla tiene como función guardar los mensajes que los usuarios envíen desde la sección de contacto de la aplicación.</a:t>
            </a:r>
          </a:p>
        </p:txBody>
      </p:sp>
      <p:sp>
        <p:nvSpPr>
          <p:cNvPr id="9" name="Marcador de número de diapositiva 8">
            <a:extLst>
              <a:ext uri="{FF2B5EF4-FFF2-40B4-BE49-F238E27FC236}">
                <a16:creationId xmlns:a16="http://schemas.microsoft.com/office/drawing/2014/main" id="{E9B77A55-6585-2706-0406-A6F290C60AB8}"/>
              </a:ext>
            </a:extLst>
          </p:cNvPr>
          <p:cNvSpPr>
            <a:spLocks noGrp="1"/>
          </p:cNvSpPr>
          <p:nvPr>
            <p:ph type="sldNum" sz="quarter" idx="12"/>
          </p:nvPr>
        </p:nvSpPr>
        <p:spPr/>
        <p:txBody>
          <a:bodyPr/>
          <a:lstStyle/>
          <a:p>
            <a:fld id="{E7875DD0-B934-4E78-B489-1FA609A3E309}" type="slidenum">
              <a:rPr lang="es-MX" smtClean="0"/>
              <a:t>13</a:t>
            </a:fld>
            <a:endParaRPr lang="es-MX"/>
          </a:p>
        </p:txBody>
      </p:sp>
    </p:spTree>
    <p:extLst>
      <p:ext uri="{BB962C8B-B14F-4D97-AF65-F5344CB8AC3E}">
        <p14:creationId xmlns:p14="http://schemas.microsoft.com/office/powerpoint/2010/main" val="3488455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DA4E22E-B05C-4881-2CB9-952506459A2B}"/>
              </a:ext>
            </a:extLst>
          </p:cNvPr>
          <p:cNvPicPr>
            <a:picLocks noChangeAspect="1"/>
          </p:cNvPicPr>
          <p:nvPr/>
        </p:nvPicPr>
        <p:blipFill>
          <a:blip r:embed="rId2"/>
          <a:srcRect b="3656"/>
          <a:stretch/>
        </p:blipFill>
        <p:spPr>
          <a:xfrm>
            <a:off x="2624730" y="2385766"/>
            <a:ext cx="7378700" cy="3996815"/>
          </a:xfrm>
          <a:prstGeom prst="rect">
            <a:avLst/>
          </a:prstGeom>
        </p:spPr>
      </p:pic>
      <p:cxnSp>
        <p:nvCxnSpPr>
          <p:cNvPr id="7" name="Conector recto de flecha 6">
            <a:extLst>
              <a:ext uri="{FF2B5EF4-FFF2-40B4-BE49-F238E27FC236}">
                <a16:creationId xmlns:a16="http://schemas.microsoft.com/office/drawing/2014/main" id="{C3D057CD-8BDF-BCB5-E2B2-AEFA8588F0FC}"/>
              </a:ext>
            </a:extLst>
          </p:cNvPr>
          <p:cNvCxnSpPr/>
          <p:nvPr/>
        </p:nvCxnSpPr>
        <p:spPr>
          <a:xfrm>
            <a:off x="3739487" y="3957851"/>
            <a:ext cx="1651379" cy="10918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CuadroTexto 8">
            <a:extLst>
              <a:ext uri="{FF2B5EF4-FFF2-40B4-BE49-F238E27FC236}">
                <a16:creationId xmlns:a16="http://schemas.microsoft.com/office/drawing/2014/main" id="{E7D59378-33AB-0BAF-F924-135D0EDB6B85}"/>
              </a:ext>
            </a:extLst>
          </p:cNvPr>
          <p:cNvSpPr txBox="1"/>
          <p:nvPr/>
        </p:nvSpPr>
        <p:spPr>
          <a:xfrm>
            <a:off x="1320705" y="329537"/>
            <a:ext cx="9877566" cy="1661993"/>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7: Agregar columnas a la tabla</a:t>
            </a:r>
          </a:p>
          <a:p>
            <a:pPr algn="just"/>
            <a:endParaRPr lang="es-MX" sz="105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En la tabla </a:t>
            </a:r>
            <a:r>
              <a:rPr lang="es-MX" dirty="0" err="1">
                <a:latin typeface="Arial" panose="020B0604020202020204" pitchFamily="34" charset="0"/>
                <a:cs typeface="Arial" panose="020B0604020202020204" pitchFamily="34" charset="0"/>
              </a:rPr>
              <a:t>mensajes_contacto</a:t>
            </a:r>
            <a:r>
              <a:rPr lang="es-MX" dirty="0">
                <a:latin typeface="Arial" panose="020B0604020202020204" pitchFamily="34" charset="0"/>
                <a:cs typeface="Arial" panose="020B0604020202020204" pitchFamily="34" charset="0"/>
              </a:rPr>
              <a:t> se agregaron las columnas necesarias para almacenar la información del formulario. Entre ellas se encuentran id, </a:t>
            </a:r>
            <a:r>
              <a:rPr lang="es-MX" dirty="0" err="1">
                <a:latin typeface="Arial" panose="020B0604020202020204" pitchFamily="34" charset="0"/>
                <a:cs typeface="Arial" panose="020B0604020202020204" pitchFamily="34" charset="0"/>
              </a:rPr>
              <a:t>created_at</a:t>
            </a:r>
            <a:r>
              <a:rPr lang="es-MX" dirty="0">
                <a:latin typeface="Arial" panose="020B0604020202020204" pitchFamily="34" charset="0"/>
                <a:cs typeface="Arial" panose="020B0604020202020204" pitchFamily="34" charset="0"/>
              </a:rPr>
              <a:t>, nombre, correo, mensaje y estado. Estas columnas permiten guardar los datos del usuario, el contenido del mensaje y el estado en que se encuentra dicho mensaje.</a:t>
            </a:r>
          </a:p>
        </p:txBody>
      </p:sp>
      <p:sp>
        <p:nvSpPr>
          <p:cNvPr id="10" name="Marcador de número de diapositiva 9">
            <a:extLst>
              <a:ext uri="{FF2B5EF4-FFF2-40B4-BE49-F238E27FC236}">
                <a16:creationId xmlns:a16="http://schemas.microsoft.com/office/drawing/2014/main" id="{9F35D962-99C4-A6AF-6A18-433C99A6B884}"/>
              </a:ext>
            </a:extLst>
          </p:cNvPr>
          <p:cNvSpPr>
            <a:spLocks noGrp="1"/>
          </p:cNvSpPr>
          <p:nvPr>
            <p:ph type="sldNum" sz="quarter" idx="12"/>
          </p:nvPr>
        </p:nvSpPr>
        <p:spPr/>
        <p:txBody>
          <a:bodyPr/>
          <a:lstStyle/>
          <a:p>
            <a:fld id="{E7875DD0-B934-4E78-B489-1FA609A3E309}" type="slidenum">
              <a:rPr lang="es-MX" smtClean="0"/>
              <a:t>14</a:t>
            </a:fld>
            <a:endParaRPr lang="es-MX"/>
          </a:p>
        </p:txBody>
      </p:sp>
    </p:spTree>
    <p:extLst>
      <p:ext uri="{BB962C8B-B14F-4D97-AF65-F5344CB8AC3E}">
        <p14:creationId xmlns:p14="http://schemas.microsoft.com/office/powerpoint/2010/main" val="1426442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39931C4-7E55-E58E-6366-79C4C3E36F74}"/>
              </a:ext>
            </a:extLst>
          </p:cNvPr>
          <p:cNvPicPr>
            <a:picLocks noChangeAspect="1"/>
          </p:cNvPicPr>
          <p:nvPr/>
        </p:nvPicPr>
        <p:blipFill>
          <a:blip r:embed="rId2"/>
          <a:srcRect b="4067"/>
          <a:stretch/>
        </p:blipFill>
        <p:spPr>
          <a:xfrm>
            <a:off x="1886803" y="1323833"/>
            <a:ext cx="8732844" cy="4710152"/>
          </a:xfrm>
          <a:prstGeom prst="rect">
            <a:avLst/>
          </a:prstGeom>
        </p:spPr>
      </p:pic>
      <p:cxnSp>
        <p:nvCxnSpPr>
          <p:cNvPr id="7" name="Conector recto de flecha 6">
            <a:extLst>
              <a:ext uri="{FF2B5EF4-FFF2-40B4-BE49-F238E27FC236}">
                <a16:creationId xmlns:a16="http://schemas.microsoft.com/office/drawing/2014/main" id="{A190C8A9-935B-B92B-61C0-6C221AA1EDD6}"/>
              </a:ext>
            </a:extLst>
          </p:cNvPr>
          <p:cNvCxnSpPr/>
          <p:nvPr/>
        </p:nvCxnSpPr>
        <p:spPr>
          <a:xfrm>
            <a:off x="4094328" y="3166281"/>
            <a:ext cx="1446663" cy="7233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 name="Marcador de número de diapositiva 7">
            <a:extLst>
              <a:ext uri="{FF2B5EF4-FFF2-40B4-BE49-F238E27FC236}">
                <a16:creationId xmlns:a16="http://schemas.microsoft.com/office/drawing/2014/main" id="{ACADCAD5-1290-0DC1-827E-20ABBECE3A8B}"/>
              </a:ext>
            </a:extLst>
          </p:cNvPr>
          <p:cNvSpPr>
            <a:spLocks noGrp="1"/>
          </p:cNvSpPr>
          <p:nvPr>
            <p:ph type="sldNum" sz="quarter" idx="12"/>
          </p:nvPr>
        </p:nvSpPr>
        <p:spPr/>
        <p:txBody>
          <a:bodyPr/>
          <a:lstStyle/>
          <a:p>
            <a:fld id="{E7875DD0-B934-4E78-B489-1FA609A3E309}" type="slidenum">
              <a:rPr lang="es-MX" smtClean="0"/>
              <a:t>15</a:t>
            </a:fld>
            <a:endParaRPr lang="es-MX"/>
          </a:p>
        </p:txBody>
      </p:sp>
    </p:spTree>
    <p:extLst>
      <p:ext uri="{BB962C8B-B14F-4D97-AF65-F5344CB8AC3E}">
        <p14:creationId xmlns:p14="http://schemas.microsoft.com/office/powerpoint/2010/main" val="4067576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57A018E-5E62-8010-89AC-24459E701CD2}"/>
              </a:ext>
            </a:extLst>
          </p:cNvPr>
          <p:cNvPicPr>
            <a:picLocks noChangeAspect="1"/>
          </p:cNvPicPr>
          <p:nvPr/>
        </p:nvPicPr>
        <p:blipFill>
          <a:blip r:embed="rId2"/>
          <a:srcRect b="3668"/>
          <a:stretch/>
        </p:blipFill>
        <p:spPr>
          <a:xfrm>
            <a:off x="2410566" y="2084250"/>
            <a:ext cx="7566766" cy="4098186"/>
          </a:xfrm>
          <a:prstGeom prst="rect">
            <a:avLst/>
          </a:prstGeom>
        </p:spPr>
      </p:pic>
      <p:cxnSp>
        <p:nvCxnSpPr>
          <p:cNvPr id="6" name="Conector recto de flecha 5">
            <a:extLst>
              <a:ext uri="{FF2B5EF4-FFF2-40B4-BE49-F238E27FC236}">
                <a16:creationId xmlns:a16="http://schemas.microsoft.com/office/drawing/2014/main" id="{2847EF6D-21C0-8010-5A27-9F9C318EDBC5}"/>
              </a:ext>
            </a:extLst>
          </p:cNvPr>
          <p:cNvCxnSpPr/>
          <p:nvPr/>
        </p:nvCxnSpPr>
        <p:spPr>
          <a:xfrm flipV="1">
            <a:off x="4312693" y="4012442"/>
            <a:ext cx="818865" cy="80521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 name="CuadroTexto 7">
            <a:extLst>
              <a:ext uri="{FF2B5EF4-FFF2-40B4-BE49-F238E27FC236}">
                <a16:creationId xmlns:a16="http://schemas.microsoft.com/office/drawing/2014/main" id="{4A0DA61F-9A68-B3DF-57E8-C0B5AA9D600B}"/>
              </a:ext>
            </a:extLst>
          </p:cNvPr>
          <p:cNvSpPr txBox="1"/>
          <p:nvPr/>
        </p:nvSpPr>
        <p:spPr>
          <a:xfrm>
            <a:off x="2036924" y="278095"/>
            <a:ext cx="8662917" cy="1415772"/>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8: Guardar y verificar la tabla</a:t>
            </a:r>
          </a:p>
          <a:p>
            <a:pPr algn="just"/>
            <a:endParaRPr lang="es-MX" sz="110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Una vez agregadas las columnas, se guardó la tabla y se verificó que quedara registrada correctamente dentro de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Con esto, la base de datos quedó lista para recibir los mensajes enviados desde la aplicación.</a:t>
            </a:r>
          </a:p>
        </p:txBody>
      </p:sp>
      <p:sp>
        <p:nvSpPr>
          <p:cNvPr id="9" name="Marcador de número de diapositiva 8">
            <a:extLst>
              <a:ext uri="{FF2B5EF4-FFF2-40B4-BE49-F238E27FC236}">
                <a16:creationId xmlns:a16="http://schemas.microsoft.com/office/drawing/2014/main" id="{B8B1A45B-FDD6-FC0F-CB2F-803655542AEC}"/>
              </a:ext>
            </a:extLst>
          </p:cNvPr>
          <p:cNvSpPr>
            <a:spLocks noGrp="1"/>
          </p:cNvSpPr>
          <p:nvPr>
            <p:ph type="sldNum" sz="quarter" idx="12"/>
          </p:nvPr>
        </p:nvSpPr>
        <p:spPr/>
        <p:txBody>
          <a:bodyPr/>
          <a:lstStyle/>
          <a:p>
            <a:fld id="{E7875DD0-B934-4E78-B489-1FA609A3E309}" type="slidenum">
              <a:rPr lang="es-MX" smtClean="0"/>
              <a:t>16</a:t>
            </a:fld>
            <a:endParaRPr lang="es-MX"/>
          </a:p>
        </p:txBody>
      </p:sp>
    </p:spTree>
    <p:extLst>
      <p:ext uri="{BB962C8B-B14F-4D97-AF65-F5344CB8AC3E}">
        <p14:creationId xmlns:p14="http://schemas.microsoft.com/office/powerpoint/2010/main" val="2992216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0357BA5-5ADB-E090-0628-E043823D52F8}"/>
              </a:ext>
            </a:extLst>
          </p:cNvPr>
          <p:cNvPicPr>
            <a:picLocks noChangeAspect="1"/>
          </p:cNvPicPr>
          <p:nvPr/>
        </p:nvPicPr>
        <p:blipFill>
          <a:blip r:embed="rId2"/>
          <a:srcRect b="3361"/>
          <a:stretch/>
        </p:blipFill>
        <p:spPr>
          <a:xfrm>
            <a:off x="1930779" y="1363402"/>
            <a:ext cx="8523406" cy="4630997"/>
          </a:xfrm>
          <a:prstGeom prst="rect">
            <a:avLst/>
          </a:prstGeom>
        </p:spPr>
      </p:pic>
      <p:cxnSp>
        <p:nvCxnSpPr>
          <p:cNvPr id="5" name="Conector recto de flecha 4">
            <a:extLst>
              <a:ext uri="{FF2B5EF4-FFF2-40B4-BE49-F238E27FC236}">
                <a16:creationId xmlns:a16="http://schemas.microsoft.com/office/drawing/2014/main" id="{A75FD226-D905-FFEF-B33E-00D9BF0D73D5}"/>
              </a:ext>
            </a:extLst>
          </p:cNvPr>
          <p:cNvCxnSpPr/>
          <p:nvPr/>
        </p:nvCxnSpPr>
        <p:spPr>
          <a:xfrm flipV="1">
            <a:off x="4435522" y="3548418"/>
            <a:ext cx="750627" cy="8734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Marcador de número de diapositiva 5">
            <a:extLst>
              <a:ext uri="{FF2B5EF4-FFF2-40B4-BE49-F238E27FC236}">
                <a16:creationId xmlns:a16="http://schemas.microsoft.com/office/drawing/2014/main" id="{26404EC6-A355-84F9-70D1-B2C17338F941}"/>
              </a:ext>
            </a:extLst>
          </p:cNvPr>
          <p:cNvSpPr>
            <a:spLocks noGrp="1"/>
          </p:cNvSpPr>
          <p:nvPr>
            <p:ph type="sldNum" sz="quarter" idx="12"/>
          </p:nvPr>
        </p:nvSpPr>
        <p:spPr/>
        <p:txBody>
          <a:bodyPr/>
          <a:lstStyle/>
          <a:p>
            <a:fld id="{E7875DD0-B934-4E78-B489-1FA609A3E309}" type="slidenum">
              <a:rPr lang="es-MX" smtClean="0"/>
              <a:t>17</a:t>
            </a:fld>
            <a:endParaRPr lang="es-MX"/>
          </a:p>
        </p:txBody>
      </p:sp>
    </p:spTree>
    <p:extLst>
      <p:ext uri="{BB962C8B-B14F-4D97-AF65-F5344CB8AC3E}">
        <p14:creationId xmlns:p14="http://schemas.microsoft.com/office/powerpoint/2010/main" val="234665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A496EE6-CE37-4EF3-1BAA-3C6524DF7570}"/>
              </a:ext>
            </a:extLst>
          </p:cNvPr>
          <p:cNvSpPr txBox="1"/>
          <p:nvPr/>
        </p:nvSpPr>
        <p:spPr>
          <a:xfrm>
            <a:off x="1104422" y="297491"/>
            <a:ext cx="10496171" cy="500137"/>
          </a:xfrm>
          <a:prstGeom prst="rect">
            <a:avLst/>
          </a:prstGeom>
          <a:noFill/>
        </p:spPr>
        <p:txBody>
          <a:bodyPr wrap="square">
            <a:spAutoFit/>
          </a:bodyPr>
          <a:lstStyle/>
          <a:p>
            <a:pPr algn="ctr"/>
            <a:r>
              <a:rPr lang="es-MX" sz="1600" b="1" dirty="0">
                <a:latin typeface="Arial" panose="020B0604020202020204" pitchFamily="34" charset="0"/>
                <a:cs typeface="Arial" panose="020B0604020202020204" pitchFamily="34" charset="0"/>
              </a:rPr>
              <a:t>CONEXIÓN DEL FORMULARIO DE CONTACTO CON SUPABASE</a:t>
            </a:r>
          </a:p>
          <a:p>
            <a:endParaRPr lang="es-MX" sz="1050" dirty="0"/>
          </a:p>
        </p:txBody>
      </p:sp>
      <p:pic>
        <p:nvPicPr>
          <p:cNvPr id="7" name="Imagen 6">
            <a:extLst>
              <a:ext uri="{FF2B5EF4-FFF2-40B4-BE49-F238E27FC236}">
                <a16:creationId xmlns:a16="http://schemas.microsoft.com/office/drawing/2014/main" id="{84D382C0-1D45-8C2F-4413-265772B31F5C}"/>
              </a:ext>
            </a:extLst>
          </p:cNvPr>
          <p:cNvPicPr>
            <a:picLocks noChangeAspect="1"/>
          </p:cNvPicPr>
          <p:nvPr/>
        </p:nvPicPr>
        <p:blipFill>
          <a:blip r:embed="rId2"/>
          <a:srcRect b="3854"/>
          <a:stretch/>
        </p:blipFill>
        <p:spPr>
          <a:xfrm>
            <a:off x="2411105" y="2735103"/>
            <a:ext cx="7210568" cy="3897707"/>
          </a:xfrm>
          <a:prstGeom prst="rect">
            <a:avLst/>
          </a:prstGeom>
        </p:spPr>
      </p:pic>
      <p:cxnSp>
        <p:nvCxnSpPr>
          <p:cNvPr id="11" name="Conector recto de flecha 10">
            <a:extLst>
              <a:ext uri="{FF2B5EF4-FFF2-40B4-BE49-F238E27FC236}">
                <a16:creationId xmlns:a16="http://schemas.microsoft.com/office/drawing/2014/main" id="{9DA27761-6F19-5E32-7091-3007436B5F04}"/>
              </a:ext>
            </a:extLst>
          </p:cNvPr>
          <p:cNvCxnSpPr/>
          <p:nvPr/>
        </p:nvCxnSpPr>
        <p:spPr>
          <a:xfrm flipH="1" flipV="1">
            <a:off x="8147713" y="4967785"/>
            <a:ext cx="1132765" cy="464024"/>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3" name="CuadroTexto 12">
            <a:extLst>
              <a:ext uri="{FF2B5EF4-FFF2-40B4-BE49-F238E27FC236}">
                <a16:creationId xmlns:a16="http://schemas.microsoft.com/office/drawing/2014/main" id="{E716F29B-3FC4-3592-B050-5ED204F9E30F}"/>
              </a:ext>
            </a:extLst>
          </p:cNvPr>
          <p:cNvSpPr txBox="1"/>
          <p:nvPr/>
        </p:nvSpPr>
        <p:spPr>
          <a:xfrm>
            <a:off x="1199958" y="824924"/>
            <a:ext cx="10123227" cy="1661993"/>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9: Modificación del archivo </a:t>
            </a:r>
            <a:r>
              <a:rPr lang="es-MX" b="1" dirty="0" err="1">
                <a:latin typeface="Arial" panose="020B0604020202020204" pitchFamily="34" charset="0"/>
                <a:cs typeface="Arial" panose="020B0604020202020204" pitchFamily="34" charset="0"/>
              </a:rPr>
              <a:t>contacto.ts</a:t>
            </a:r>
            <a:endParaRPr lang="es-MX" b="1" dirty="0">
              <a:latin typeface="Arial" panose="020B0604020202020204" pitchFamily="34" charset="0"/>
              <a:cs typeface="Arial" panose="020B0604020202020204" pitchFamily="34" charset="0"/>
            </a:endParaRPr>
          </a:p>
          <a:p>
            <a:pPr algn="just"/>
            <a:endParaRPr lang="es-MX" sz="105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Después se abrió el archivo </a:t>
            </a:r>
            <a:r>
              <a:rPr lang="es-MX" dirty="0" err="1">
                <a:latin typeface="Arial" panose="020B0604020202020204" pitchFamily="34" charset="0"/>
                <a:cs typeface="Arial" panose="020B0604020202020204" pitchFamily="34" charset="0"/>
              </a:rPr>
              <a:t>contacto.ts</a:t>
            </a:r>
            <a:r>
              <a:rPr lang="es-MX" dirty="0">
                <a:latin typeface="Arial" panose="020B0604020202020204" pitchFamily="34" charset="0"/>
                <a:cs typeface="Arial" panose="020B0604020202020204" pitchFamily="34" charset="0"/>
              </a:rPr>
              <a:t> en Visual Studio </a:t>
            </a:r>
            <a:r>
              <a:rPr lang="es-MX" dirty="0" err="1">
                <a:latin typeface="Arial" panose="020B0604020202020204" pitchFamily="34" charset="0"/>
                <a:cs typeface="Arial" panose="020B0604020202020204" pitchFamily="34" charset="0"/>
              </a:rPr>
              <a:t>Code</a:t>
            </a:r>
            <a:r>
              <a:rPr lang="es-MX" dirty="0">
                <a:latin typeface="Arial" panose="020B0604020202020204" pitchFamily="34" charset="0"/>
                <a:cs typeface="Arial" panose="020B0604020202020204" pitchFamily="34" charset="0"/>
              </a:rPr>
              <a:t>, donde se agregó la lógica necesaria para enviar los mensajes a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Este código permite capturar el nombre, correo y mensaje escritos por el usuario, validar que los campos no estén vacíos y guardar la información en la tabla </a:t>
            </a:r>
            <a:r>
              <a:rPr lang="es-MX" dirty="0" err="1">
                <a:latin typeface="Arial" panose="020B0604020202020204" pitchFamily="34" charset="0"/>
                <a:cs typeface="Arial" panose="020B0604020202020204" pitchFamily="34" charset="0"/>
              </a:rPr>
              <a:t>mensajes_contacto</a:t>
            </a:r>
            <a:r>
              <a:rPr lang="es-MX" dirty="0">
                <a:latin typeface="Arial" panose="020B0604020202020204" pitchFamily="34" charset="0"/>
                <a:cs typeface="Arial" panose="020B0604020202020204" pitchFamily="34" charset="0"/>
              </a:rPr>
              <a:t>.</a:t>
            </a:r>
          </a:p>
        </p:txBody>
      </p:sp>
      <p:sp>
        <p:nvSpPr>
          <p:cNvPr id="14" name="Marcador de número de diapositiva 13">
            <a:extLst>
              <a:ext uri="{FF2B5EF4-FFF2-40B4-BE49-F238E27FC236}">
                <a16:creationId xmlns:a16="http://schemas.microsoft.com/office/drawing/2014/main" id="{134635C1-7ADC-BA6E-6B3F-B9C9A986A734}"/>
              </a:ext>
            </a:extLst>
          </p:cNvPr>
          <p:cNvSpPr>
            <a:spLocks noGrp="1"/>
          </p:cNvSpPr>
          <p:nvPr>
            <p:ph type="sldNum" sz="quarter" idx="12"/>
          </p:nvPr>
        </p:nvSpPr>
        <p:spPr/>
        <p:txBody>
          <a:bodyPr/>
          <a:lstStyle/>
          <a:p>
            <a:fld id="{E7875DD0-B934-4E78-B489-1FA609A3E309}" type="slidenum">
              <a:rPr lang="es-MX" smtClean="0"/>
              <a:t>18</a:t>
            </a:fld>
            <a:endParaRPr lang="es-MX"/>
          </a:p>
        </p:txBody>
      </p:sp>
    </p:spTree>
    <p:extLst>
      <p:ext uri="{BB962C8B-B14F-4D97-AF65-F5344CB8AC3E}">
        <p14:creationId xmlns:p14="http://schemas.microsoft.com/office/powerpoint/2010/main" val="600031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24BA1E9-8A90-0E96-6AAB-39DC910ADC19}"/>
              </a:ext>
            </a:extLst>
          </p:cNvPr>
          <p:cNvPicPr>
            <a:picLocks noChangeAspect="1"/>
          </p:cNvPicPr>
          <p:nvPr/>
        </p:nvPicPr>
        <p:blipFill>
          <a:blip r:embed="rId2"/>
          <a:srcRect b="4027"/>
          <a:stretch/>
        </p:blipFill>
        <p:spPr>
          <a:xfrm>
            <a:off x="1647614" y="1281752"/>
            <a:ext cx="8896772" cy="4800600"/>
          </a:xfrm>
          <a:prstGeom prst="rect">
            <a:avLst/>
          </a:prstGeom>
        </p:spPr>
      </p:pic>
      <p:cxnSp>
        <p:nvCxnSpPr>
          <p:cNvPr id="4" name="Conector recto de flecha 3">
            <a:extLst>
              <a:ext uri="{FF2B5EF4-FFF2-40B4-BE49-F238E27FC236}">
                <a16:creationId xmlns:a16="http://schemas.microsoft.com/office/drawing/2014/main" id="{9D190088-E12E-EF73-4B80-B07E3E759B98}"/>
              </a:ext>
            </a:extLst>
          </p:cNvPr>
          <p:cNvCxnSpPr/>
          <p:nvPr/>
        </p:nvCxnSpPr>
        <p:spPr>
          <a:xfrm flipH="1" flipV="1">
            <a:off x="8256895" y="3807726"/>
            <a:ext cx="1132765" cy="464024"/>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5" name="Marcador de número de diapositiva 4">
            <a:extLst>
              <a:ext uri="{FF2B5EF4-FFF2-40B4-BE49-F238E27FC236}">
                <a16:creationId xmlns:a16="http://schemas.microsoft.com/office/drawing/2014/main" id="{93ED7EA5-0FA7-E24B-CD44-442957874C37}"/>
              </a:ext>
            </a:extLst>
          </p:cNvPr>
          <p:cNvSpPr>
            <a:spLocks noGrp="1"/>
          </p:cNvSpPr>
          <p:nvPr>
            <p:ph type="sldNum" sz="quarter" idx="12"/>
          </p:nvPr>
        </p:nvSpPr>
        <p:spPr/>
        <p:txBody>
          <a:bodyPr/>
          <a:lstStyle/>
          <a:p>
            <a:fld id="{E7875DD0-B934-4E78-B489-1FA609A3E309}" type="slidenum">
              <a:rPr lang="es-MX" smtClean="0"/>
              <a:t>19</a:t>
            </a:fld>
            <a:endParaRPr lang="es-MX"/>
          </a:p>
        </p:txBody>
      </p:sp>
    </p:spTree>
    <p:extLst>
      <p:ext uri="{BB962C8B-B14F-4D97-AF65-F5344CB8AC3E}">
        <p14:creationId xmlns:p14="http://schemas.microsoft.com/office/powerpoint/2010/main" val="2185153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B5ED6E4-47E2-CDD6-AF53-15B24023B886}"/>
              </a:ext>
            </a:extLst>
          </p:cNvPr>
          <p:cNvPicPr>
            <a:picLocks noChangeAspect="1"/>
          </p:cNvPicPr>
          <p:nvPr/>
        </p:nvPicPr>
        <p:blipFill>
          <a:blip r:embed="rId2"/>
          <a:srcRect b="3659"/>
          <a:stretch/>
        </p:blipFill>
        <p:spPr>
          <a:xfrm>
            <a:off x="2465695" y="2477207"/>
            <a:ext cx="7469875" cy="4046086"/>
          </a:xfrm>
          <a:prstGeom prst="rect">
            <a:avLst/>
          </a:prstGeom>
        </p:spPr>
      </p:pic>
      <p:cxnSp>
        <p:nvCxnSpPr>
          <p:cNvPr id="10" name="Conector recto de flecha 9">
            <a:extLst>
              <a:ext uri="{FF2B5EF4-FFF2-40B4-BE49-F238E27FC236}">
                <a16:creationId xmlns:a16="http://schemas.microsoft.com/office/drawing/2014/main" id="{7761BB2F-1F0E-FA55-7486-7FD9B2CE42D2}"/>
              </a:ext>
            </a:extLst>
          </p:cNvPr>
          <p:cNvCxnSpPr/>
          <p:nvPr/>
        </p:nvCxnSpPr>
        <p:spPr>
          <a:xfrm flipH="1" flipV="1">
            <a:off x="8147713" y="4967785"/>
            <a:ext cx="1132765" cy="464024"/>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2" name="CuadroTexto 11">
            <a:extLst>
              <a:ext uri="{FF2B5EF4-FFF2-40B4-BE49-F238E27FC236}">
                <a16:creationId xmlns:a16="http://schemas.microsoft.com/office/drawing/2014/main" id="{8EA8FEF3-07C7-6E5F-953F-624C22D93954}"/>
              </a:ext>
            </a:extLst>
          </p:cNvPr>
          <p:cNvSpPr txBox="1"/>
          <p:nvPr/>
        </p:nvSpPr>
        <p:spPr>
          <a:xfrm>
            <a:off x="1664457" y="354755"/>
            <a:ext cx="9072349" cy="1754326"/>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11: Modificación del archivo contacto.html</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Posteriormente, se abrió el archivo contacto.html y se conectaron los campos de nombre, correo electrónico y mensaje con el componente de Angular. Además, se agregó la función al botón de enviar mensaje para que, al presionarlo, la información se guarde en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a:t>
            </a:r>
          </a:p>
        </p:txBody>
      </p:sp>
      <p:sp>
        <p:nvSpPr>
          <p:cNvPr id="13" name="Marcador de número de diapositiva 12">
            <a:extLst>
              <a:ext uri="{FF2B5EF4-FFF2-40B4-BE49-F238E27FC236}">
                <a16:creationId xmlns:a16="http://schemas.microsoft.com/office/drawing/2014/main" id="{1E9C396A-AF30-C751-88A7-0010F1B165DA}"/>
              </a:ext>
            </a:extLst>
          </p:cNvPr>
          <p:cNvSpPr>
            <a:spLocks noGrp="1"/>
          </p:cNvSpPr>
          <p:nvPr>
            <p:ph type="sldNum" sz="quarter" idx="12"/>
          </p:nvPr>
        </p:nvSpPr>
        <p:spPr/>
        <p:txBody>
          <a:bodyPr/>
          <a:lstStyle/>
          <a:p>
            <a:fld id="{E7875DD0-B934-4E78-B489-1FA609A3E309}" type="slidenum">
              <a:rPr lang="es-MX" smtClean="0"/>
              <a:t>20</a:t>
            </a:fld>
            <a:endParaRPr lang="es-MX"/>
          </a:p>
        </p:txBody>
      </p:sp>
    </p:spTree>
    <p:extLst>
      <p:ext uri="{BB962C8B-B14F-4D97-AF65-F5344CB8AC3E}">
        <p14:creationId xmlns:p14="http://schemas.microsoft.com/office/powerpoint/2010/main" val="2798898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1642B6D-7B48-3A61-BA6F-FBE888EA6BE1}"/>
              </a:ext>
            </a:extLst>
          </p:cNvPr>
          <p:cNvPicPr>
            <a:picLocks noChangeAspect="1"/>
          </p:cNvPicPr>
          <p:nvPr/>
        </p:nvPicPr>
        <p:blipFill>
          <a:blip r:embed="rId2"/>
          <a:srcRect b="3659"/>
          <a:stretch/>
        </p:blipFill>
        <p:spPr>
          <a:xfrm>
            <a:off x="2028967" y="1403497"/>
            <a:ext cx="8134066" cy="4405848"/>
          </a:xfrm>
          <a:prstGeom prst="rect">
            <a:avLst/>
          </a:prstGeom>
        </p:spPr>
      </p:pic>
      <p:cxnSp>
        <p:nvCxnSpPr>
          <p:cNvPr id="4" name="Conector recto de flecha 3">
            <a:extLst>
              <a:ext uri="{FF2B5EF4-FFF2-40B4-BE49-F238E27FC236}">
                <a16:creationId xmlns:a16="http://schemas.microsoft.com/office/drawing/2014/main" id="{23EE9A39-F2ED-1C14-D81D-9BEA3DD2CD5A}"/>
              </a:ext>
            </a:extLst>
          </p:cNvPr>
          <p:cNvCxnSpPr/>
          <p:nvPr/>
        </p:nvCxnSpPr>
        <p:spPr>
          <a:xfrm flipH="1" flipV="1">
            <a:off x="8120417" y="3739486"/>
            <a:ext cx="1132765" cy="464024"/>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5" name="Marcador de número de diapositiva 4">
            <a:extLst>
              <a:ext uri="{FF2B5EF4-FFF2-40B4-BE49-F238E27FC236}">
                <a16:creationId xmlns:a16="http://schemas.microsoft.com/office/drawing/2014/main" id="{790FE039-E74F-45D4-B3F9-FAD90682B6E7}"/>
              </a:ext>
            </a:extLst>
          </p:cNvPr>
          <p:cNvSpPr>
            <a:spLocks noGrp="1"/>
          </p:cNvSpPr>
          <p:nvPr>
            <p:ph type="sldNum" sz="quarter" idx="12"/>
          </p:nvPr>
        </p:nvSpPr>
        <p:spPr/>
        <p:txBody>
          <a:bodyPr/>
          <a:lstStyle/>
          <a:p>
            <a:fld id="{E7875DD0-B934-4E78-B489-1FA609A3E309}" type="slidenum">
              <a:rPr lang="es-MX" smtClean="0"/>
              <a:t>21</a:t>
            </a:fld>
            <a:endParaRPr lang="es-MX"/>
          </a:p>
        </p:txBody>
      </p:sp>
    </p:spTree>
    <p:extLst>
      <p:ext uri="{BB962C8B-B14F-4D97-AF65-F5344CB8AC3E}">
        <p14:creationId xmlns:p14="http://schemas.microsoft.com/office/powerpoint/2010/main" val="21218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0C29728-70D3-9D17-8F8A-3D44559E34AC}"/>
              </a:ext>
            </a:extLst>
          </p:cNvPr>
          <p:cNvPicPr>
            <a:picLocks noChangeAspect="1"/>
          </p:cNvPicPr>
          <p:nvPr/>
        </p:nvPicPr>
        <p:blipFill>
          <a:blip r:embed="rId2"/>
          <a:srcRect b="4256"/>
          <a:stretch/>
        </p:blipFill>
        <p:spPr>
          <a:xfrm>
            <a:off x="2538483" y="2792158"/>
            <a:ext cx="7115033" cy="3829991"/>
          </a:xfrm>
          <a:prstGeom prst="rect">
            <a:avLst/>
          </a:prstGeom>
        </p:spPr>
      </p:pic>
      <p:cxnSp>
        <p:nvCxnSpPr>
          <p:cNvPr id="5" name="Conector recto de flecha 4">
            <a:extLst>
              <a:ext uri="{FF2B5EF4-FFF2-40B4-BE49-F238E27FC236}">
                <a16:creationId xmlns:a16="http://schemas.microsoft.com/office/drawing/2014/main" id="{40F23ED6-C2E9-3AC6-A2B0-9983CD5CAD91}"/>
              </a:ext>
            </a:extLst>
          </p:cNvPr>
          <p:cNvCxnSpPr/>
          <p:nvPr/>
        </p:nvCxnSpPr>
        <p:spPr>
          <a:xfrm flipH="1" flipV="1">
            <a:off x="7751929" y="4995080"/>
            <a:ext cx="1132765" cy="464024"/>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7" name="CuadroTexto 6">
            <a:extLst>
              <a:ext uri="{FF2B5EF4-FFF2-40B4-BE49-F238E27FC236}">
                <a16:creationId xmlns:a16="http://schemas.microsoft.com/office/drawing/2014/main" id="{8B218021-83F0-42E9-0605-52350289317D}"/>
              </a:ext>
            </a:extLst>
          </p:cNvPr>
          <p:cNvSpPr txBox="1"/>
          <p:nvPr/>
        </p:nvSpPr>
        <p:spPr>
          <a:xfrm>
            <a:off x="1405720" y="322894"/>
            <a:ext cx="10044752" cy="2308324"/>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Paso 13: Prueba de funcionamiento de la aplicación</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Finalmente, se ejecutó el proyecto desde la terminal para verificar el funcionamiento de la aplicación web. Una vez que la aplicación se inició correctamente, se realizó la prueba del inicio de sesión ingresando un correo y contraseña registrados en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comprobando que el acceso funcionara de manera correcta. Después, se probó el formulario de contacto llenando los campos de nombre, correo y mensaje, y se verificó en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que la información se guardara correctamente en la tabla </a:t>
            </a:r>
            <a:r>
              <a:rPr lang="es-MX" dirty="0" err="1">
                <a:latin typeface="Arial" panose="020B0604020202020204" pitchFamily="34" charset="0"/>
                <a:cs typeface="Arial" panose="020B0604020202020204" pitchFamily="34" charset="0"/>
              </a:rPr>
              <a:t>mensajes_contacto</a:t>
            </a:r>
            <a:endParaRPr lang="es-MX" dirty="0">
              <a:latin typeface="Arial" panose="020B0604020202020204" pitchFamily="34" charset="0"/>
              <a:cs typeface="Arial" panose="020B0604020202020204" pitchFamily="34" charset="0"/>
            </a:endParaRPr>
          </a:p>
        </p:txBody>
      </p:sp>
      <p:sp>
        <p:nvSpPr>
          <p:cNvPr id="8" name="Marcador de número de diapositiva 7">
            <a:extLst>
              <a:ext uri="{FF2B5EF4-FFF2-40B4-BE49-F238E27FC236}">
                <a16:creationId xmlns:a16="http://schemas.microsoft.com/office/drawing/2014/main" id="{735BCFA9-EF0C-3360-E037-4395D5DD9F21}"/>
              </a:ext>
            </a:extLst>
          </p:cNvPr>
          <p:cNvSpPr>
            <a:spLocks noGrp="1"/>
          </p:cNvSpPr>
          <p:nvPr>
            <p:ph type="sldNum" sz="quarter" idx="12"/>
          </p:nvPr>
        </p:nvSpPr>
        <p:spPr/>
        <p:txBody>
          <a:bodyPr/>
          <a:lstStyle/>
          <a:p>
            <a:fld id="{E7875DD0-B934-4E78-B489-1FA609A3E309}" type="slidenum">
              <a:rPr lang="es-MX" smtClean="0"/>
              <a:t>22</a:t>
            </a:fld>
            <a:endParaRPr lang="es-MX"/>
          </a:p>
        </p:txBody>
      </p:sp>
    </p:spTree>
    <p:extLst>
      <p:ext uri="{BB962C8B-B14F-4D97-AF65-F5344CB8AC3E}">
        <p14:creationId xmlns:p14="http://schemas.microsoft.com/office/powerpoint/2010/main" val="1399067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4BA3717-78BD-A983-6AFA-568F2DECEF04}"/>
              </a:ext>
            </a:extLst>
          </p:cNvPr>
          <p:cNvSpPr txBox="1"/>
          <p:nvPr/>
        </p:nvSpPr>
        <p:spPr>
          <a:xfrm>
            <a:off x="1641996" y="766382"/>
            <a:ext cx="8908007" cy="5078313"/>
          </a:xfrm>
          <a:prstGeom prst="rect">
            <a:avLst/>
          </a:prstGeom>
          <a:noFill/>
        </p:spPr>
        <p:txBody>
          <a:bodyPr wrap="square">
            <a:spAutoFit/>
          </a:bodyPr>
          <a:lstStyle/>
          <a:p>
            <a:pPr algn="ctr"/>
            <a:r>
              <a:rPr lang="es-MX" b="1" dirty="0">
                <a:latin typeface="Arial" panose="020B0604020202020204" pitchFamily="34" charset="0"/>
                <a:cs typeface="Arial" panose="020B0604020202020204" pitchFamily="34" charset="0"/>
              </a:rPr>
              <a:t>CONCLUSIÓN</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A lo largo de esta actividad se logró implementar correctamente el inicio de sesión y el formulario de contacto dentro de la aplicación web </a:t>
            </a:r>
            <a:r>
              <a:rPr lang="es-MX" dirty="0" err="1">
                <a:latin typeface="Arial" panose="020B0604020202020204" pitchFamily="34" charset="0"/>
                <a:cs typeface="Arial" panose="020B0604020202020204" pitchFamily="34" charset="0"/>
              </a:rPr>
              <a:t>Coffee</a:t>
            </a:r>
            <a:r>
              <a:rPr lang="es-MX" dirty="0">
                <a:latin typeface="Arial" panose="020B0604020202020204" pitchFamily="34" charset="0"/>
                <a:cs typeface="Arial" panose="020B0604020202020204" pitchFamily="34" charset="0"/>
              </a:rPr>
              <a:t> Rinconcito BV. Estas funciones permitieron conectar la aplicación con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para validar usuarios registrados y almacenar los mensajes enviados desde la página de contacto.</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También se pudo comprobar que el inicio de sesión funciona correctamente al ingresar un correo y contraseña registrados en la base de datos. De igual manera, se verificó que los mensajes enviados desde el formulario de contacto se guardaran correctamente en la tabla </a:t>
            </a:r>
            <a:r>
              <a:rPr lang="es-MX" dirty="0" err="1">
                <a:latin typeface="Arial" panose="020B0604020202020204" pitchFamily="34" charset="0"/>
                <a:cs typeface="Arial" panose="020B0604020202020204" pitchFamily="34" charset="0"/>
              </a:rPr>
              <a:t>mensajes_contacto</a:t>
            </a:r>
            <a:r>
              <a:rPr lang="es-MX" dirty="0">
                <a:latin typeface="Arial" panose="020B0604020202020204" pitchFamily="34" charset="0"/>
                <a:cs typeface="Arial" panose="020B0604020202020204" pitchFamily="34" charset="0"/>
              </a:rPr>
              <a:t>, lo cual demuestra que la conexión entre Angular y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 se realizó de forma adecuada.</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En conclusión, esta práctica fue importante porque permitió agregar funciones necesarias para que la aplicación sea más completa y funcional. Gracias a estas implementaciones, el sistema cuenta con una mejor gestión de usuarios y una forma de comunicación con los clientes, lo cual ayuda a mejorar la experiencia dentro de la aplicación.</a:t>
            </a:r>
          </a:p>
        </p:txBody>
      </p:sp>
      <p:sp>
        <p:nvSpPr>
          <p:cNvPr id="4" name="Marcador de número de diapositiva 3">
            <a:extLst>
              <a:ext uri="{FF2B5EF4-FFF2-40B4-BE49-F238E27FC236}">
                <a16:creationId xmlns:a16="http://schemas.microsoft.com/office/drawing/2014/main" id="{91374E6F-5EA5-DFC2-00B6-7A72EC6D1AD8}"/>
              </a:ext>
            </a:extLst>
          </p:cNvPr>
          <p:cNvSpPr>
            <a:spLocks noGrp="1"/>
          </p:cNvSpPr>
          <p:nvPr>
            <p:ph type="sldNum" sz="quarter" idx="12"/>
          </p:nvPr>
        </p:nvSpPr>
        <p:spPr/>
        <p:txBody>
          <a:bodyPr/>
          <a:lstStyle/>
          <a:p>
            <a:fld id="{E7875DD0-B934-4E78-B489-1FA609A3E309}" type="slidenum">
              <a:rPr lang="es-MX" smtClean="0"/>
              <a:t>23</a:t>
            </a:fld>
            <a:endParaRPr lang="es-MX"/>
          </a:p>
        </p:txBody>
      </p:sp>
    </p:spTree>
    <p:extLst>
      <p:ext uri="{BB962C8B-B14F-4D97-AF65-F5344CB8AC3E}">
        <p14:creationId xmlns:p14="http://schemas.microsoft.com/office/powerpoint/2010/main" val="774783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2EE83B6-3F7F-E2D8-9BC9-2A1083C06273}"/>
              </a:ext>
            </a:extLst>
          </p:cNvPr>
          <p:cNvSpPr txBox="1"/>
          <p:nvPr/>
        </p:nvSpPr>
        <p:spPr>
          <a:xfrm>
            <a:off x="1173706" y="752180"/>
            <a:ext cx="9676263" cy="6555641"/>
          </a:xfrm>
          <a:prstGeom prst="rect">
            <a:avLst/>
          </a:prstGeom>
          <a:noFill/>
        </p:spPr>
        <p:txBody>
          <a:bodyPr wrap="square">
            <a:spAutoFit/>
          </a:bodyPr>
          <a:lstStyle/>
          <a:p>
            <a:pPr algn="ctr"/>
            <a:r>
              <a:rPr lang="es-MX" b="1" dirty="0">
                <a:latin typeface="Arial" panose="020B0604020202020204" pitchFamily="34" charset="0"/>
                <a:cs typeface="Arial" panose="020B0604020202020204" pitchFamily="34" charset="0"/>
              </a:rPr>
              <a:t>FUENTES DE INFORMACION </a:t>
            </a:r>
          </a:p>
          <a:p>
            <a:endParaRPr lang="es-MX" sz="2800" dirty="0"/>
          </a:p>
          <a:p>
            <a:pPr algn="just"/>
            <a:r>
              <a:rPr lang="es-MX" b="1" dirty="0" err="1"/>
              <a:t>CleanKoder</a:t>
            </a:r>
            <a:r>
              <a:rPr lang="es-MX" b="1" dirty="0"/>
              <a:t> [@Cleankoder]. (s/f). </a:t>
            </a:r>
            <a:r>
              <a:rPr lang="es-MX" dirty="0"/>
              <a:t>TUTORIAL PASO a PASO COMO IMPLEMENTAR OAuth con NEXTJS y SUPABASE [[</a:t>
            </a:r>
            <a:r>
              <a:rPr lang="es-MX" dirty="0" err="1"/>
              <a:t>Object</a:t>
            </a:r>
            <a:r>
              <a:rPr lang="es-MX" dirty="0"/>
              <a:t> </a:t>
            </a:r>
            <a:r>
              <a:rPr lang="es-MX" dirty="0" err="1"/>
              <a:t>Object</a:t>
            </a:r>
            <a:r>
              <a:rPr lang="es-MX" dirty="0"/>
              <a:t>]]. </a:t>
            </a:r>
            <a:r>
              <a:rPr lang="es-MX" dirty="0" err="1"/>
              <a:t>Youtube</a:t>
            </a:r>
            <a:r>
              <a:rPr lang="es-MX" dirty="0"/>
              <a:t>. Recuperado el 15 de junio de 2026, de </a:t>
            </a:r>
            <a:r>
              <a:rPr lang="es-MX" dirty="0">
                <a:solidFill>
                  <a:schemeClr val="tx2">
                    <a:lumMod val="75000"/>
                    <a:lumOff val="25000"/>
                  </a:schemeClr>
                </a:solidFill>
                <a:hlinkClick r:id="rId2">
                  <a:extLst>
                    <a:ext uri="{A12FA001-AC4F-418D-AE19-62706E023703}">
                      <ahyp:hlinkClr xmlns:ahyp="http://schemas.microsoft.com/office/drawing/2018/hyperlinkcolor" val="tx"/>
                    </a:ext>
                  </a:extLst>
                </a:hlinkClick>
              </a:rPr>
              <a:t>https://www.youtube.com/watch?v=5XNIkK9RNhA</a:t>
            </a:r>
            <a:endParaRPr lang="es-MX" dirty="0">
              <a:solidFill>
                <a:schemeClr val="tx2">
                  <a:lumMod val="75000"/>
                  <a:lumOff val="25000"/>
                </a:schemeClr>
              </a:solidFill>
            </a:endParaRPr>
          </a:p>
          <a:p>
            <a:pPr algn="just"/>
            <a:endParaRPr lang="es-MX" dirty="0">
              <a:solidFill>
                <a:schemeClr val="tx2">
                  <a:lumMod val="75000"/>
                  <a:lumOff val="25000"/>
                </a:schemeClr>
              </a:solidFill>
            </a:endParaRPr>
          </a:p>
          <a:p>
            <a:pPr algn="just"/>
            <a:r>
              <a:rPr lang="pt-BR" b="1" dirty="0">
                <a:effectLst/>
                <a:latin typeface="Arial" panose="020B0604020202020204" pitchFamily="34" charset="0"/>
                <a:cs typeface="Arial" panose="020B0604020202020204" pitchFamily="34" charset="0"/>
              </a:rPr>
              <a:t>Codes, E. [@EstebanCodes]. (s/f). </a:t>
            </a:r>
            <a:r>
              <a:rPr lang="pt-BR" dirty="0">
                <a:effectLst/>
                <a:latin typeface="Arial" panose="020B0604020202020204" pitchFamily="34" charset="0"/>
                <a:cs typeface="Arial" panose="020B0604020202020204" pitchFamily="34" charset="0"/>
              </a:rPr>
              <a:t>Contact </a:t>
            </a:r>
            <a:r>
              <a:rPr lang="pt-BR" dirty="0" err="1">
                <a:effectLst/>
                <a:latin typeface="Arial" panose="020B0604020202020204" pitchFamily="34" charset="0"/>
                <a:cs typeface="Arial" panose="020B0604020202020204" pitchFamily="34" charset="0"/>
              </a:rPr>
              <a:t>form</a:t>
            </a:r>
            <a:r>
              <a:rPr lang="pt-BR" dirty="0">
                <a:effectLst/>
                <a:latin typeface="Arial" panose="020B0604020202020204" pitchFamily="34" charset="0"/>
                <a:cs typeface="Arial" panose="020B0604020202020204" pitchFamily="34" charset="0"/>
              </a:rPr>
              <a:t> </a:t>
            </a:r>
            <a:r>
              <a:rPr lang="pt-BR" dirty="0" err="1">
                <a:effectLst/>
                <a:latin typeface="Arial" panose="020B0604020202020204" pitchFamily="34" charset="0"/>
                <a:cs typeface="Arial" panose="020B0604020202020204" pitchFamily="34" charset="0"/>
              </a:rPr>
              <a:t>submissions</a:t>
            </a:r>
            <a:r>
              <a:rPr lang="pt-BR" dirty="0">
                <a:effectLst/>
                <a:latin typeface="Arial" panose="020B0604020202020204" pitchFamily="34" charset="0"/>
                <a:cs typeface="Arial" panose="020B0604020202020204" pitchFamily="34" charset="0"/>
              </a:rPr>
              <a:t> </a:t>
            </a:r>
            <a:r>
              <a:rPr lang="pt-BR" dirty="0" err="1">
                <a:effectLst/>
                <a:latin typeface="Arial" panose="020B0604020202020204" pitchFamily="34" charset="0"/>
                <a:cs typeface="Arial" panose="020B0604020202020204" pitchFamily="34" charset="0"/>
              </a:rPr>
              <a:t>with</a:t>
            </a:r>
            <a:r>
              <a:rPr lang="pt-BR" dirty="0">
                <a:effectLst/>
                <a:latin typeface="Arial" panose="020B0604020202020204" pitchFamily="34" charset="0"/>
                <a:cs typeface="Arial" panose="020B0604020202020204" pitchFamily="34" charset="0"/>
              </a:rPr>
              <a:t> </a:t>
            </a:r>
            <a:r>
              <a:rPr lang="pt-BR" dirty="0" err="1">
                <a:effectLst/>
                <a:latin typeface="Arial" panose="020B0604020202020204" pitchFamily="34" charset="0"/>
                <a:cs typeface="Arial" panose="020B0604020202020204" pitchFamily="34" charset="0"/>
              </a:rPr>
              <a:t>Supabase</a:t>
            </a:r>
            <a:r>
              <a:rPr lang="pt-BR" dirty="0">
                <a:effectLst/>
                <a:latin typeface="Arial" panose="020B0604020202020204" pitchFamily="34" charset="0"/>
                <a:cs typeface="Arial" panose="020B0604020202020204" pitchFamily="34" charset="0"/>
              </a:rPr>
              <a:t> - </a:t>
            </a:r>
            <a:r>
              <a:rPr lang="pt-BR" dirty="0" err="1">
                <a:effectLst/>
                <a:latin typeface="Arial" panose="020B0604020202020204" pitchFamily="34" charset="0"/>
                <a:cs typeface="Arial" panose="020B0604020202020204" pitchFamily="34" charset="0"/>
              </a:rPr>
              <a:t>Supabase</a:t>
            </a:r>
            <a:r>
              <a:rPr lang="pt-BR" dirty="0">
                <a:effectLst/>
                <a:latin typeface="Arial" panose="020B0604020202020204" pitchFamily="34" charset="0"/>
                <a:cs typeface="Arial" panose="020B0604020202020204" pitchFamily="34" charset="0"/>
              </a:rPr>
              <a:t> Tutorial [[</a:t>
            </a:r>
            <a:r>
              <a:rPr lang="pt-BR" dirty="0" err="1">
                <a:effectLst/>
                <a:latin typeface="Arial" panose="020B0604020202020204" pitchFamily="34" charset="0"/>
                <a:cs typeface="Arial" panose="020B0604020202020204" pitchFamily="34" charset="0"/>
              </a:rPr>
              <a:t>Object</a:t>
            </a:r>
            <a:r>
              <a:rPr lang="pt-BR" dirty="0">
                <a:effectLst/>
                <a:latin typeface="Arial" panose="020B0604020202020204" pitchFamily="34" charset="0"/>
                <a:cs typeface="Arial" panose="020B0604020202020204" pitchFamily="34" charset="0"/>
              </a:rPr>
              <a:t> </a:t>
            </a:r>
            <a:r>
              <a:rPr lang="pt-BR" dirty="0" err="1">
                <a:effectLst/>
                <a:latin typeface="Arial" panose="020B0604020202020204" pitchFamily="34" charset="0"/>
                <a:cs typeface="Arial" panose="020B0604020202020204" pitchFamily="34" charset="0"/>
              </a:rPr>
              <a:t>Object</a:t>
            </a:r>
            <a:r>
              <a:rPr lang="pt-BR" dirty="0">
                <a:effectLst/>
                <a:latin typeface="Arial" panose="020B0604020202020204" pitchFamily="34" charset="0"/>
                <a:cs typeface="Arial" panose="020B0604020202020204" pitchFamily="34" charset="0"/>
              </a:rPr>
              <a:t>]]. Youtube. Recuperado </a:t>
            </a:r>
            <a:r>
              <a:rPr lang="pt-BR" dirty="0" err="1">
                <a:effectLst/>
                <a:latin typeface="Arial" panose="020B0604020202020204" pitchFamily="34" charset="0"/>
                <a:cs typeface="Arial" panose="020B0604020202020204" pitchFamily="34" charset="0"/>
              </a:rPr>
              <a:t>el</a:t>
            </a:r>
            <a:r>
              <a:rPr lang="pt-BR" dirty="0">
                <a:effectLst/>
                <a:latin typeface="Arial" panose="020B0604020202020204" pitchFamily="34" charset="0"/>
                <a:cs typeface="Arial" panose="020B0604020202020204" pitchFamily="34" charset="0"/>
              </a:rPr>
              <a:t> 15 de </a:t>
            </a:r>
            <a:r>
              <a:rPr lang="pt-BR" dirty="0" err="1">
                <a:effectLst/>
                <a:latin typeface="Arial" panose="020B0604020202020204" pitchFamily="34" charset="0"/>
                <a:cs typeface="Arial" panose="020B0604020202020204" pitchFamily="34" charset="0"/>
              </a:rPr>
              <a:t>junio</a:t>
            </a:r>
            <a:r>
              <a:rPr lang="pt-BR" dirty="0">
                <a:effectLst/>
                <a:latin typeface="Arial" panose="020B0604020202020204" pitchFamily="34" charset="0"/>
                <a:cs typeface="Arial" panose="020B0604020202020204" pitchFamily="34" charset="0"/>
              </a:rPr>
              <a:t> de 2026, de </a:t>
            </a:r>
            <a:r>
              <a:rPr lang="pt-BR" dirty="0">
                <a:solidFill>
                  <a:schemeClr val="tx2">
                    <a:lumMod val="75000"/>
                    <a:lumOff val="25000"/>
                  </a:schemeClr>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https://www.youtube.com/watch?v=pLAQRmO271g&amp;t=22s</a:t>
            </a:r>
            <a:endParaRPr lang="pt-BR" dirty="0">
              <a:solidFill>
                <a:schemeClr val="tx2">
                  <a:lumMod val="75000"/>
                  <a:lumOff val="25000"/>
                </a:schemeClr>
              </a:solidFill>
              <a:effectLst/>
              <a:latin typeface="Arial" panose="020B0604020202020204" pitchFamily="34" charset="0"/>
              <a:cs typeface="Arial" panose="020B0604020202020204" pitchFamily="34" charset="0"/>
            </a:endParaRPr>
          </a:p>
          <a:p>
            <a:pPr algn="just"/>
            <a:endParaRPr lang="pt-BR" dirty="0">
              <a:effectLst/>
              <a:latin typeface="Arial" panose="020B0604020202020204" pitchFamily="34" charset="0"/>
              <a:cs typeface="Arial" panose="020B0604020202020204" pitchFamily="34" charset="0"/>
            </a:endParaRPr>
          </a:p>
          <a:p>
            <a:br>
              <a:rPr lang="pt-BR" dirty="0">
                <a:effectLst/>
              </a:rPr>
            </a:br>
            <a:endParaRPr lang="es-MX" dirty="0">
              <a:solidFill>
                <a:schemeClr val="tx2">
                  <a:lumMod val="75000"/>
                  <a:lumOff val="25000"/>
                </a:schemeClr>
              </a:solidFill>
            </a:endParaRPr>
          </a:p>
          <a:p>
            <a:pPr algn="just"/>
            <a:endParaRPr lang="es-MX" dirty="0">
              <a:solidFill>
                <a:schemeClr val="tx2">
                  <a:lumMod val="75000"/>
                  <a:lumOff val="25000"/>
                </a:schemeClr>
              </a:solidFill>
            </a:endParaRPr>
          </a:p>
          <a:p>
            <a:pPr algn="just"/>
            <a:endParaRPr lang="es-MX" dirty="0">
              <a:solidFill>
                <a:schemeClr val="tx2">
                  <a:lumMod val="75000"/>
                  <a:lumOff val="25000"/>
                </a:schemeClr>
              </a:solidFill>
            </a:endParaRPr>
          </a:p>
          <a:p>
            <a:pPr algn="just"/>
            <a:endParaRPr lang="pt-BR" dirty="0">
              <a:solidFill>
                <a:schemeClr val="tx2">
                  <a:lumMod val="75000"/>
                  <a:lumOff val="25000"/>
                </a:schemeClr>
              </a:solidFill>
            </a:endParaRPr>
          </a:p>
          <a:p>
            <a:pPr algn="just"/>
            <a:endParaRPr lang="pt-BR" dirty="0">
              <a:solidFill>
                <a:schemeClr val="tx2">
                  <a:lumMod val="75000"/>
                  <a:lumOff val="25000"/>
                </a:schemeClr>
              </a:solidFill>
            </a:endParaRPr>
          </a:p>
          <a:p>
            <a:pPr algn="just"/>
            <a:endParaRPr lang="pt-BR" dirty="0">
              <a:solidFill>
                <a:schemeClr val="tx2">
                  <a:lumMod val="75000"/>
                  <a:lumOff val="25000"/>
                </a:schemeClr>
              </a:solidFill>
            </a:endParaRPr>
          </a:p>
          <a:p>
            <a:pPr algn="just"/>
            <a:endParaRPr lang="es-MX" dirty="0">
              <a:solidFill>
                <a:schemeClr val="tx2">
                  <a:lumMod val="75000"/>
                  <a:lumOff val="25000"/>
                </a:schemeClr>
              </a:solidFill>
            </a:endParaRPr>
          </a:p>
          <a:p>
            <a:pPr algn="just"/>
            <a:endParaRPr lang="es-MX" dirty="0">
              <a:solidFill>
                <a:schemeClr val="tx2">
                  <a:lumMod val="75000"/>
                  <a:lumOff val="25000"/>
                </a:schemeClr>
              </a:solidFill>
            </a:endParaRPr>
          </a:p>
          <a:p>
            <a:pPr algn="just"/>
            <a:endParaRPr lang="es-MX" dirty="0">
              <a:solidFill>
                <a:schemeClr val="tx2">
                  <a:lumMod val="75000"/>
                  <a:lumOff val="25000"/>
                </a:schemeClr>
              </a:solidFill>
            </a:endParaRPr>
          </a:p>
          <a:p>
            <a:endParaRPr lang="es-MX" dirty="0"/>
          </a:p>
          <a:p>
            <a:endParaRPr lang="es-MX" dirty="0"/>
          </a:p>
          <a:p>
            <a:endParaRPr lang="es-MX" dirty="0"/>
          </a:p>
        </p:txBody>
      </p:sp>
      <p:sp>
        <p:nvSpPr>
          <p:cNvPr id="4" name="Marcador de número de diapositiva 3">
            <a:extLst>
              <a:ext uri="{FF2B5EF4-FFF2-40B4-BE49-F238E27FC236}">
                <a16:creationId xmlns:a16="http://schemas.microsoft.com/office/drawing/2014/main" id="{086388CB-0F1E-5D46-4E0E-8DDD45E3B9ED}"/>
              </a:ext>
            </a:extLst>
          </p:cNvPr>
          <p:cNvSpPr>
            <a:spLocks noGrp="1"/>
          </p:cNvSpPr>
          <p:nvPr>
            <p:ph type="sldNum" sz="quarter" idx="12"/>
          </p:nvPr>
        </p:nvSpPr>
        <p:spPr/>
        <p:txBody>
          <a:bodyPr/>
          <a:lstStyle/>
          <a:p>
            <a:fld id="{E7875DD0-B934-4E78-B489-1FA609A3E309}" type="slidenum">
              <a:rPr lang="es-MX" smtClean="0"/>
              <a:t>24</a:t>
            </a:fld>
            <a:endParaRPr lang="es-MX"/>
          </a:p>
        </p:txBody>
      </p:sp>
    </p:spTree>
    <p:extLst>
      <p:ext uri="{BB962C8B-B14F-4D97-AF65-F5344CB8AC3E}">
        <p14:creationId xmlns:p14="http://schemas.microsoft.com/office/powerpoint/2010/main" val="946165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80EEB0A-A920-872A-A46C-4346F4DA6FB6}"/>
              </a:ext>
            </a:extLst>
          </p:cNvPr>
          <p:cNvSpPr txBox="1"/>
          <p:nvPr/>
        </p:nvSpPr>
        <p:spPr>
          <a:xfrm>
            <a:off x="982639" y="655093"/>
            <a:ext cx="7274257" cy="646331"/>
          </a:xfrm>
          <a:prstGeom prst="rect">
            <a:avLst/>
          </a:prstGeom>
          <a:noFill/>
        </p:spPr>
        <p:txBody>
          <a:bodyPr wrap="square" rtlCol="0">
            <a:spAutoFit/>
          </a:bodyPr>
          <a:lstStyle/>
          <a:p>
            <a:r>
              <a:rPr lang="es-MX" b="1" dirty="0">
                <a:latin typeface="Arial" panose="020B0604020202020204" pitchFamily="34" charset="0"/>
                <a:cs typeface="Arial" panose="020B0604020202020204" pitchFamily="34" charset="0"/>
              </a:rPr>
              <a:t>Anexo Link Para Su Revisión:</a:t>
            </a:r>
          </a:p>
          <a:p>
            <a:r>
              <a:rPr lang="es-MX" b="1">
                <a:latin typeface="Arial" panose="020B0604020202020204" pitchFamily="34" charset="0"/>
                <a:cs typeface="Arial" panose="020B0604020202020204" pitchFamily="34" charset="0"/>
              </a:rPr>
              <a:t>https://github.com/Made-Mazariegos/PW-Tema-5.git </a:t>
            </a:r>
            <a:endParaRPr lang="es-MX" b="1" dirty="0">
              <a:latin typeface="Arial" panose="020B06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08AA21CD-4289-7772-E6F5-337F390CF9B9}"/>
              </a:ext>
            </a:extLst>
          </p:cNvPr>
          <p:cNvSpPr>
            <a:spLocks noGrp="1"/>
          </p:cNvSpPr>
          <p:nvPr>
            <p:ph type="sldNum" sz="quarter" idx="12"/>
          </p:nvPr>
        </p:nvSpPr>
        <p:spPr/>
        <p:txBody>
          <a:bodyPr/>
          <a:lstStyle/>
          <a:p>
            <a:fld id="{E7875DD0-B934-4E78-B489-1FA609A3E309}" type="slidenum">
              <a:rPr lang="es-MX" smtClean="0"/>
              <a:t>25</a:t>
            </a:fld>
            <a:endParaRPr lang="es-MX"/>
          </a:p>
        </p:txBody>
      </p:sp>
    </p:spTree>
    <p:extLst>
      <p:ext uri="{BB962C8B-B14F-4D97-AF65-F5344CB8AC3E}">
        <p14:creationId xmlns:p14="http://schemas.microsoft.com/office/powerpoint/2010/main" val="38319406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1505</Words>
  <Application>Microsoft Office PowerPoint</Application>
  <PresentationFormat>Panorámica</PresentationFormat>
  <Paragraphs>126</Paragraphs>
  <Slides>25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Aptos</vt:lpstr>
      <vt:lpstr>Aptos Display</vt: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Rescate</dc:creator>
  <cp:lastModifiedBy>Rescate</cp:lastModifiedBy>
  <cp:revision>9</cp:revision>
  <dcterms:created xsi:type="dcterms:W3CDTF">2026-06-15T02:41:22Z</dcterms:created>
  <dcterms:modified xsi:type="dcterms:W3CDTF">2026-06-15T06:00:58Z</dcterms:modified>
</cp:coreProperties>
</file>